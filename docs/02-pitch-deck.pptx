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ab4b43748d4b41" /><Relationship Type="http://schemas.openxmlformats.org/officeDocument/2006/relationships/extended-properties" Target="/docProps/app.xml" Id="R1ae800bb6fc24ae0" /><Relationship Type="http://schemas.openxmlformats.org/officeDocument/2006/relationships/officeDocument" Target="/ppt/presentation.xml" Id="R23a771099e9244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60ef99bde54fca"/>
  </p:sldMasterIdLst>
  <p:notesMasterIdLst>
    <p:notesMasterId xmlns:r="http://schemas.openxmlformats.org/officeDocument/2006/relationships" r:id="Rb94fabae44144671"/>
  </p:notesMasterIdLst>
  <p:sldIdLst>
    <p:sldId xmlns:r="http://schemas.openxmlformats.org/officeDocument/2006/relationships" id="256" r:id="Rb46e27b1056b4db2"/>
    <p:sldId xmlns:r="http://schemas.openxmlformats.org/officeDocument/2006/relationships" id="257" r:id="R54ceb35b105a41b0"/>
    <p:sldId xmlns:r="http://schemas.openxmlformats.org/officeDocument/2006/relationships" id="258" r:id="R96f44dd2ebbe4b88"/>
    <p:sldId xmlns:r="http://schemas.openxmlformats.org/officeDocument/2006/relationships" id="259" r:id="R71f8ad9dc67343e2"/>
    <p:sldId xmlns:r="http://schemas.openxmlformats.org/officeDocument/2006/relationships" id="260" r:id="Rb0304b21622046b5"/>
    <p:sldId xmlns:r="http://schemas.openxmlformats.org/officeDocument/2006/relationships" id="261" r:id="R60a820ae5f974028"/>
    <p:sldId xmlns:r="http://schemas.openxmlformats.org/officeDocument/2006/relationships" id="262" r:id="R0cbfe1c9efb647a7"/>
    <p:sldId xmlns:r="http://schemas.openxmlformats.org/officeDocument/2006/relationships" id="263" r:id="R0c35e62643684182"/>
    <p:sldId xmlns:r="http://schemas.openxmlformats.org/officeDocument/2006/relationships" id="264" r:id="Rcc67911c70a449cb"/>
    <p:sldId xmlns:r="http://schemas.openxmlformats.org/officeDocument/2006/relationships" id="265" r:id="R314fca8986e54f37"/>
    <p:sldId xmlns:r="http://schemas.openxmlformats.org/officeDocument/2006/relationships" id="266" r:id="R594b90371e2e4af8"/>
    <p:sldId xmlns:r="http://schemas.openxmlformats.org/officeDocument/2006/relationships" id="267" r:id="Rec29c6aa29fa4e02"/>
    <p:sldId xmlns:r="http://schemas.openxmlformats.org/officeDocument/2006/relationships" id="268" r:id="Rce4f2cbaafa84e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cfd08e4f50489c" /><Relationship Type="http://schemas.openxmlformats.org/officeDocument/2006/relationships/slideMaster" Target="/ppt/slideMasters/slideMaster1.xml" Id="Rd660ef99bde54fca" /><Relationship Type="http://schemas.openxmlformats.org/officeDocument/2006/relationships/notesMaster" Target="/ppt/notesMasters/notesMaster1.xml" Id="Rb94fabae44144671" /><Relationship Type="http://schemas.openxmlformats.org/officeDocument/2006/relationships/presProps" Target="/ppt/presProps.xml" Id="R657615e343a140ea" /><Relationship Type="http://schemas.openxmlformats.org/officeDocument/2006/relationships/viewProps" Target="/ppt/viewProps.xml" Id="R4e8527544f6b41c6" /><Relationship Type="http://schemas.openxmlformats.org/officeDocument/2006/relationships/tableStyles" Target="/ppt/tableStyles.xml" Id="R662ac7436ca74f0d" /><Relationship Type="http://schemas.openxmlformats.org/officeDocument/2006/relationships/slide" Target="/ppt/slides/slide1.xml" Id="Rb46e27b1056b4db2" /><Relationship Type="http://schemas.openxmlformats.org/officeDocument/2006/relationships/slide" Target="/ppt/slides/slide2.xml" Id="R54ceb35b105a41b0" /><Relationship Type="http://schemas.openxmlformats.org/officeDocument/2006/relationships/slide" Target="/ppt/slides/slide3.xml" Id="R96f44dd2ebbe4b88" /><Relationship Type="http://schemas.openxmlformats.org/officeDocument/2006/relationships/slide" Target="/ppt/slides/slide4.xml" Id="R71f8ad9dc67343e2" /><Relationship Type="http://schemas.openxmlformats.org/officeDocument/2006/relationships/slide" Target="/ppt/slides/slide5.xml" Id="Rb0304b21622046b5" /><Relationship Type="http://schemas.openxmlformats.org/officeDocument/2006/relationships/slide" Target="/ppt/slides/slide6.xml" Id="R60a820ae5f974028" /><Relationship Type="http://schemas.openxmlformats.org/officeDocument/2006/relationships/slide" Target="/ppt/slides/slide7.xml" Id="R0cbfe1c9efb647a7" /><Relationship Type="http://schemas.openxmlformats.org/officeDocument/2006/relationships/slide" Target="/ppt/slides/slide8.xml" Id="R0c35e62643684182" /><Relationship Type="http://schemas.openxmlformats.org/officeDocument/2006/relationships/slide" Target="/ppt/slides/slide9.xml" Id="Rcc67911c70a449cb" /><Relationship Type="http://schemas.openxmlformats.org/officeDocument/2006/relationships/slide" Target="/ppt/slides/slide10.xml" Id="R314fca8986e54f37" /><Relationship Type="http://schemas.openxmlformats.org/officeDocument/2006/relationships/slide" Target="/ppt/slides/slide11.xml" Id="R594b90371e2e4af8" /><Relationship Type="http://schemas.openxmlformats.org/officeDocument/2006/relationships/slide" Target="/ppt/slides/slide12.xml" Id="Rec29c6aa29fa4e02" /><Relationship Type="http://schemas.openxmlformats.org/officeDocument/2006/relationships/slide" Target="/ppt/slides/slide13.xml" Id="Rce4f2cbaafa84e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4a0f0764e047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17687bb0ce4c82" /><Relationship Type="http://schemas.openxmlformats.org/officeDocument/2006/relationships/notesMaster" Target="/ppt/notesMasters/notesMaster1.xml" Id="R53463962afec4a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ea0cd902c04c30" /><Relationship Type="http://schemas.openxmlformats.org/officeDocument/2006/relationships/notesMaster" Target="/ppt/notesMasters/notesMaster1.xml" Id="Rcdaf48622d3b4e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377ceef4514fca" /><Relationship Type="http://schemas.openxmlformats.org/officeDocument/2006/relationships/notesMaster" Target="/ppt/notesMasters/notesMaster1.xml" Id="R5025fbef53a044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cf2165a9cc4a85" /><Relationship Type="http://schemas.openxmlformats.org/officeDocument/2006/relationships/notesMaster" Target="/ppt/notesMasters/notesMaster1.xml" Id="R640e61e19e6743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8dab6c8f094822" /><Relationship Type="http://schemas.openxmlformats.org/officeDocument/2006/relationships/notesMaster" Target="/ppt/notesMasters/notesMaster1.xml" Id="R6ac0bc0a120541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255b7cfdbd436e" /><Relationship Type="http://schemas.openxmlformats.org/officeDocument/2006/relationships/notesMaster" Target="/ppt/notesMasters/notesMaster1.xml" Id="Rf09192657c7244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a6053d12a64077" /><Relationship Type="http://schemas.openxmlformats.org/officeDocument/2006/relationships/notesMaster" Target="/ppt/notesMasters/notesMaster1.xml" Id="Re9d9f582bdc441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8ba3eb92354d1a" /><Relationship Type="http://schemas.openxmlformats.org/officeDocument/2006/relationships/notesMaster" Target="/ppt/notesMasters/notesMaster1.xml" Id="Rcdad1aecd46642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d8fab796884a0f" /><Relationship Type="http://schemas.openxmlformats.org/officeDocument/2006/relationships/notesMaster" Target="/ppt/notesMasters/notesMaster1.xml" Id="Rc37733efdb0e4b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4eb340c0e445bc" /><Relationship Type="http://schemas.openxmlformats.org/officeDocument/2006/relationships/notesMaster" Target="/ppt/notesMasters/notesMaster1.xml" Id="R3e066f0f285d44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21a10c150a4dc3" /><Relationship Type="http://schemas.openxmlformats.org/officeDocument/2006/relationships/notesMaster" Target="/ppt/notesMasters/notesMaster1.xml" Id="R633633bf5f5f4c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275c1b209e44ed" /><Relationship Type="http://schemas.openxmlformats.org/officeDocument/2006/relationships/notesMaster" Target="/ppt/notesMasters/notesMaster1.xml" Id="Rd9b0bf0886e44d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d0f964043494968" /><Relationship Type="http://schemas.openxmlformats.org/officeDocument/2006/relationships/notesMaster" Target="/ppt/notesMasters/notesMaster1.xml" Id="Ra7f064cb129542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Secondary evidence only. These published cases are not interviews or pilots conducted by PROOF2PAY AI.</a:t>
            </a:r>
            <a:endParaRPr/>
          </a:p>
          <a:p xmlns:a="http://schemas.openxmlformats.org/drawingml/2006/main">
            <a:r>
              <a:t>PT Putra Bajubang/Pertamina Jambi thesis, UNAMA (2022): handwritten technician logs and repeated administration cross-checks. https://repository.unama.ac.id/2644/</a:t>
            </a:r>
            <a:endParaRPr/>
          </a:p>
          <a:p xmlns:a="http://schemas.openxmlformats.org/drawingml/2006/main">
            <a:r>
              <a:t>CV Pelangi Teknik study, Journal Speed (2021): WhatsApp orders, paper notes and receipts that can be misplaced. https://doi.org/10.55181/speed.v13i2.700</a:t>
            </a:r>
            <a:endParaRPr/>
          </a:p>
          <a:p xmlns:a="http://schemas.openxmlformats.org/drawingml/2006/main">
            <a:r>
              <a:t>CV Kurniatama thesis, UKDW (2016): customers received cost and parts information without detailed service information. https://repository.ukdw.ac.id/2774/</a:t>
            </a:r>
            <a:endParaRPr/>
          </a:p>
          <a:p xmlns:a="http://schemas.openxmlformats.org/drawingml/2006/main">
            <a:r>
              <a:t>Other workflow references: ServiceTitan official help and ServiceM8 official help. Product prevalence, Indonesian SME demand, time savings, and willingness to pay remain unvalidated.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NYC Parks AMPS work orders, published by NYC Open Data: https://data.cityofnewyork.us/d/8sdw-8vja . Selected public records 2791739, 2792582, 2792861. Retrieved 28 September 2026 Jakarta. This is genuine public operational metadata, not a customer pilot or proof of billability. Snapshot and exact query: data/public/nyc-parks-work-orders.json.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05d539d6443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fb9b17f7445a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92AD5C0-1F61-49C5-B510-BC740AFE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584784-255C-44D8-9095-AB293222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PROOF2PAY AI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B26F15E-5DD2-437B-9050-5C2FA1C4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65105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98A2B3"/>
                </a:solidFill>
                <a:latin typeface="Arial"/>
                <a:ea typeface="Arial"/>
                <a:cs typeface="Arial"/>
              </a:rPr>
              <a:t>Hackathon MVP | Synthetic demo data unless cited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4907E-FD0C-4D3F-8ADA-29114715A8B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a3c08f2c9e4b6e" /><Relationship Type="http://schemas.openxmlformats.org/officeDocument/2006/relationships/slideLayout" Target="/ppt/slideLayouts/slideLayout1.xml" Id="R38649fb83df6413f" /><Relationship Type="http://schemas.openxmlformats.org/officeDocument/2006/relationships/slideLayout" Target="/ppt/slideLayouts/slideLayout2.xml" Id="R4b156b04d4f54ac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AD0E01-A2FC-431B-A33A-3C6B1750C6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649fb83df6413f"/>
    <p:sldLayoutId xmlns:r="http://schemas.openxmlformats.org/officeDocument/2006/relationships" id="2147483650" r:id="R4b156b04d4f54ac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43b405e119403e" /><Relationship Type="http://schemas.openxmlformats.org/officeDocument/2006/relationships/notesSlide" Target="/ppt/notesSlides/notesSlide1.xml" Id="R1d075e0d729e47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3a7b85ef104d2b" /><Relationship Type="http://schemas.openxmlformats.org/officeDocument/2006/relationships/notesSlide" Target="/ppt/notesSlides/notesSlide2.xml" Id="R889c1f396a7742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d94c21a8344b7d" /><Relationship Type="http://schemas.openxmlformats.org/officeDocument/2006/relationships/notesSlide" Target="/ppt/notesSlides/notesSlide3.xml" Id="R9c450fcad4dd4b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94b17c8de443f2" /><Relationship Type="http://schemas.openxmlformats.org/officeDocument/2006/relationships/notesSlide" Target="/ppt/notesSlides/notesSlide4.xml" Id="R07ce6afc09ec44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2405f3e0dd4413" /><Relationship Type="http://schemas.openxmlformats.org/officeDocument/2006/relationships/notesSlide" Target="/ppt/notesSlides/notesSlide5.xml" Id="R2b9d5ef1003343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bc5c385a354fb2" /><Relationship Type="http://schemas.openxmlformats.org/officeDocument/2006/relationships/notesSlide" Target="/ppt/notesSlides/notesSlide6.xml" Id="Ra674b7c1bd654c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e8eb115b224712" /><Relationship Type="http://schemas.openxmlformats.org/officeDocument/2006/relationships/notesSlide" Target="/ppt/notesSlides/notesSlide7.xml" Id="Rfb979377c42e4f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c1cd0a27d84098" /><Relationship Type="http://schemas.openxmlformats.org/officeDocument/2006/relationships/image" Target="/ppt/media/image.png" Id="R869fff39ad484a0e" /><Relationship Type="http://schemas.openxmlformats.org/officeDocument/2006/relationships/notesSlide" Target="/ppt/notesSlides/notesSlide8.xml" Id="Rf8fd30bb0a0f44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32f5914f664d1a" /><Relationship Type="http://schemas.openxmlformats.org/officeDocument/2006/relationships/notesSlide" Target="/ppt/notesSlides/notesSlide9.xml" Id="Re2bd977ce04543e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c81b49dea84fd0" /><Relationship Type="http://schemas.openxmlformats.org/officeDocument/2006/relationships/notesSlide" Target="/ppt/notesSlides/notesSlide10.xml" Id="R29dd7ba24b1547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6d8f3978d34710" /><Relationship Type="http://schemas.openxmlformats.org/officeDocument/2006/relationships/notesSlide" Target="/ppt/notesSlides/notesSlide11.xml" Id="Rdb82ea6a535c4e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3170ee843e4ea4" /><Relationship Type="http://schemas.openxmlformats.org/officeDocument/2006/relationships/notesSlide" Target="/ppt/notesSlides/notesSlide12.xml" Id="R94e5403cdf5c479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e2e713f0d9411e" /><Relationship Type="http://schemas.openxmlformats.org/officeDocument/2006/relationships/notesSlide" Target="/ppt/notesSlides/notesSlide13.xml" Id="R89f69474e19345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6DA784-54E3-4F46-96E5-3C798092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ADFF"/>
          </a:solidFill>
          <a:ln xmlns:a="http://schemas.openxmlformats.org/drawingml/2006/main" w="12700">
            <a:solidFill>
              <a:srgbClr val="84ADF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592166C-A272-48E4-9F53-DA70B982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85800"/>
            <a:ext cx="24231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1D2939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FF33DC7-69C2-4638-ABF8-61B24652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704088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PRODUCTIVITY &amp; SMART BUSINESS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C7927C5-8A94-4131-AD0D-473399B3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08760"/>
            <a:ext cx="9875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PROOF2PAY AI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CE393E6-D7EC-4FA6-AC2C-6777CFEC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31720"/>
            <a:ext cx="9875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>
                <a:solidFill>
                  <a:srgbClr val="D0D5DD"/>
                </a:solidFill>
                <a:latin typeface="Arial"/>
                <a:ea typeface="Arial"/>
                <a:cs typeface="Arial"/>
              </a:rPr>
              <a:t>Agentic Job Completion &amp; Billing Readiness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AE602-E7E0-4FF9-BCBB-F391FDDF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37560"/>
            <a:ext cx="10241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Finish the job. Prove the job. Get paid.</a:t>
            </a:r>
            <a:endParaRPr sz="2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1BC8310-5F78-49A2-B865-16F03D6C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14800"/>
            <a:ext cx="8595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EAECF0"/>
                </a:solidFill>
                <a:latin typeface="Arial"/>
                <a:ea typeface="Arial"/>
                <a:cs typeface="Arial"/>
              </a:rPr>
              <a:t>An evidence-to-billing intelligence layer for B2B field-service teams.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F633467-2DF7-4F60-BDA1-7DDCEB27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3749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546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E4AEB8E-122B-42D9-BE19-11F5C436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4807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30">
                <a:solidFill>
                  <a:srgbClr val="98A2B3"/>
                </a:solidFill>
                <a:latin typeface="Arial"/>
                <a:ea typeface="Arial"/>
                <a:cs typeface="Arial"/>
              </a:rPr>
              <a:t>HACKATHON MVP</a:t>
            </a:r>
            <a:endParaRPr sz="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995FF45-9C39-4E74-A1EB-83746F78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22392"/>
            <a:ext cx="51206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IBM Bob + MCP + Langflow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02E081E-AD56-42C7-8B11-5DBB6B05AC4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79101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E3A0B6-32A0-4124-869F-47EFB473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01 - THE PROBLEM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CF82F5-6508-4359-A766-C8D0E9D5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job is complete. So why can't finance bill?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059617-3BF0-482D-A9F6-1E4BB19A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Field completion and billing readiness are not always the same state.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032CE2D-2AC5-4FF4-9FB2-DFD873A4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57400"/>
            <a:ext cx="365760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8FAF862-72A1-49AA-A5D5-238D6DF7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80467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4541F-0039-4337-8774-37AF2D67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FIELD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0812BE-BD9B-42FE-AAA9-9759EC09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16352"/>
            <a:ext cx="3063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"Job selesai, Pak."</a:t>
            </a:r>
            <a:endParaRPr sz="2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328A113-A3C5-4FB2-B6FE-DDC35F06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56432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Technician sends short notes, photos, and attachments after service.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1534103-E004-453C-8807-99CB1DE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148132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ECFDF3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445911E-EBCF-44FB-83F0-2C483D16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27448"/>
            <a:ext cx="12984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REPORTED COMPLETE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7928A55-9C5E-441B-A5C3-0F05704F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57400"/>
            <a:ext cx="3063240" cy="3246120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D9A2E4E-3C9D-4974-83FE-74FB3C28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5915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The handoff gap</a:t>
            </a:r>
            <a:endParaRPr sz="17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9A867C6-D7CA-446A-85D1-F57CC32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9008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603E49-47A8-481D-B31D-EB6F563A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2880360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Customer sign-off missing</a:t>
            </a:r>
            <a:endParaRPr sz="1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FA5D105-AABD-4BA2-BEDD-5117B8B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661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E4D182-D50A-4912-B9DD-BDBE0054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3456432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Test evidence ambiguous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1D75B64-A443-4DF3-9884-E5D46B0F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422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14036E6-CC1C-448A-B36C-451BF88A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4032504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Service report not ready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2B57D51-FF72-4205-BE59-B196286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1830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9B2145D-7ECD-4535-BBC0-6DEF14A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4608576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Admin must chase people/files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56853E6-CE9E-40ED-BCDF-BBA6FCC0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057400"/>
            <a:ext cx="370332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45B5-7DBC-4474-8EB9-540A615A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331720"/>
            <a:ext cx="93268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BF56434-200D-4D13-8C50-9E630232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350008"/>
            <a:ext cx="7498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FINANCE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E9AE889-1FFA-4B93-8DB7-9360E429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834640"/>
            <a:ext cx="2880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Not billing-ready</a:t>
            </a:r>
            <a:endParaRPr sz="22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35C482F-C723-4D94-A230-28705ADA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3456432"/>
            <a:ext cx="283464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problem is not whether the technician is done. The problem is whether the completed work can be proven.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76328F-24C1-49CA-A75E-FFF3B647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4800600"/>
            <a:ext cx="28346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Finished != Billable</a:t>
            </a:r>
            <a:endParaRPr sz="15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70C20CE-C6DC-4373-AC0A-E1E437B56BF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06751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4167E7-032D-4EA9-B0B7-6C87B95D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02 - PROBLEM ANATOMY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B304F3-9F9D-4967-992A-E151E22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is scattered. Readiness is unclear. Follow-up is manual.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7C1A570-88CC-4195-95ED-C42B6F6A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3852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024A14E-8C50-426D-806D-4838D8ED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19456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A620AC-B9AF-469B-B190-5D1952F3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21284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1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FAE56C-7D9D-4E64-B0A2-5B6F8E6C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6712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Fragmented evidence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FC617A8-6A0B-469A-920F-2CE0BF30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689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Notes, photos, checklists, files, readings, signatures and reports can live in different places.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0990C0A-73B8-4077-B74D-99B2C2BC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3852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CFEEE83-2CDE-4235-A891-F9481340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19456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8B7FB9-684D-4A7B-A6A7-3179FC0A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21284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2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2039546-1DC0-4106-A295-0F54CF30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6712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Unsupported claims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3A93D2D-913F-4E8E-8AC9-A9F5E0DB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59689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"Tested" in a technician note does not automatically prove a critical acceptance requirement.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FED7C6-7914-41D5-96E5-547095C8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1304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70A9B7A-166C-4700-80CD-61F7CFCE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6908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AE0FF98-DD66-4F73-8902-F85F6EF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08736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3</a:t>
            </a:r>
            <a:endParaRPr sz="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2C7EE95-BC69-4844-90EE-1CD7AF9F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4164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Manual reconciliation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528E393-D0EE-4326-AA85-A120086F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7141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Someone must compare requirements with evidence and decide what is still missing.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8484DB1-FB8C-4783-A338-3B4A51AA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81304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324F04F-665B-41B2-9EFD-2D8C5843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6908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25A0927-475D-45F5-A25F-B8DEF58E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08736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4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A19DEFD-60A9-4FE1-B505-A076A887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04164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Manual chasing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B7EC6DC-85B6-4AFC-8366-AF87B7D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47141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Operations follows up with technicians/customers, then re-checks the case before billing.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4DC1B25-C82E-4481-AB46-CB7F0B9B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424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10">
                <a:solidFill>
                  <a:srgbClr val="155EEF"/>
                </a:solidFill>
                <a:latin typeface="Arial"/>
                <a:ea typeface="Arial"/>
                <a:cs typeface="Arial"/>
              </a:rPr>
              <a:t>Product opportunity</a:t>
            </a:r>
            <a:endParaRPr sz="1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FB58D4-D14A-4B96-8F9C-5A3E7F2A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669280"/>
            <a:ext cx="8869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Turn a completed job into a traceable evidence decision - then resolve the gaps.</a:t>
            </a:r>
            <a:endParaRPr sz="1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8E951E8-E32A-4191-B2B9-70AC16744F5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548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851817-ADCF-4FB0-B35F-3CEC43A4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03 - VALIDATION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EF7B626-30CD-41C2-AA82-FAC38587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Published evidence for the workflow problem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E85655-3DD1-4686-B1BC-1CE62E26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Indonesian AC-service cases document paper records and repeated manual checking.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CDF75BC-3618-4793-8441-6FC9F0E6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2CB75B-BFBA-4D28-83E7-BD9CAE06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94560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64E0E7-C65E-48DA-B2FD-67F73C4D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CATEGORY EVIDENCE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BFCAB6-FE69-462C-892E-B41E088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2112264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ServiceTitan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1729565-4C8E-4695-A610-858F5F6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84832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Forms can capture signatures, checklists, photos and PDFs; closeout can include required documentation.</a:t>
            </a:r>
            <a:endParaRPr sz="10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50062DB-10B5-4C6B-8050-1E6124B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44952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CC0DA5C-E7E9-4E53-B023-A9A154CD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73552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E16568-E3E1-445E-B4BA-6144588B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91840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STATE EVIDENCE</a:t>
            </a:r>
            <a:endParaRPr sz="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7BFB4D6-ACD9-431D-B9F6-C701C1B7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191256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ServiceM8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53BAB5-5136-4F19-8E61-6D2A160E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63824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Completed jobs can enter an Awaiting Approval stage before invoice approval/sync.</a:t>
            </a:r>
            <a:endParaRPr sz="102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DB7C908-121B-43EA-93AD-2B6CD81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23944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E771F7A-6599-49EE-AE1B-DA2BBF75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52544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4592BC9-4734-48A6-A951-9F3057A4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7083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LOCAL STUDIES</a:t>
            </a:r>
            <a:endParaRPr sz="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D7DD2DB-3E9E-4CCF-BDFE-DB5F1123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427024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Local AC service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3976483-4309-4677-989A-6C00DE98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42816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Published cases report handwritten logs, misplaced receipts, and repeated administrative checks.</a:t>
            </a:r>
            <a:endParaRPr sz="10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95A52F-DEBA-470D-A4C3-D0E323D5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1097280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98F49BF-7891-4CB6-AE61-D2FB4A59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559552"/>
            <a:ext cx="10287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Still unvalidated: prevalence, average delay, willingness-to-pay, and best first vertical in Indonesian SMEs.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7EB309A-5E4C-4828-B568-5C15A962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8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ServiceTitan, ServiceM8, UNAMA, BSI and UKDW repositories. Accessed 28 Sep 2026.</a:t>
            </a:r>
            <a:endParaRPr sz="68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1DE29E7-7305-4525-B810-9D5394C4D77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5726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3AE387-CD0F-45F9-8458-2CFDB0EB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04 - THE PRODUCT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8A65B1-839E-4864-A147-CABBE529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PROOF2PAY is an Evidence-to-Billing Intelligence Layer.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718DC95-6395-4EEB-9C8A-22C51E4E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It does not replace dispatch, CRM, FSM, ERP, accounting, or payment rails.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07E433-4D9F-4430-8192-E2ABB642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30C9E38-94BB-4CC0-8F72-65E7C77F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4E51AD-E6CF-4559-BDF0-4433D9AF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BCFFD3-426E-4AA9-B59F-F6F90544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 Completion Intake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2BBD63A-60BA-4C56-B5FC-5EEA07AD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Understand notes + mixed evidence</a:t>
            </a:r>
            <a:endParaRPr sz="9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E97D0DC-EC5F-4F22-841B-59EE8987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3570BAD-D744-4BC0-B466-7939249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84ADFF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E8B3635-8E47-49CE-A57B-ED8A2DDE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9A33901-5E9B-4730-9CAB-45FE544D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  <a:endParaRPr sz="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A309A33-14C8-4254-A376-67DCF21C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Requirement-to-Evidence Graph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F841B69-08FF-4A49-8CDE-4FD9C2A1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What was required vs what exists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79AAC57-77F2-4103-ADC7-1713E71C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8C6506A-AA1C-4158-B361-802B9738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B5F5457-2E1B-4A62-9DB7-92F492CC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5017954-6286-4CF1-8D43-ADAFD6E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019F6E2-F105-46E2-8D2D-3F68F400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Billing Readiness Engine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D5C109C-EA07-4B17-BCE7-0AC48719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Explain blockers with rules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64BDBDD-AD17-48F6-A875-14DCFEFD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1588179-81C2-43EE-9413-8F58D71A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E4481B3-D419-479F-BAF9-39BD69ED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F87E0BB-F889-4879-AE2A-2C0DFA3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8CE814C-A643-4EFC-B7A8-B935E966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Gap-to-Action Agent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B7C898A-1FA8-4830-A564-0B0DB8B4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Plan the smallest next action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3BDEE32-A6CD-4B38-9D1F-7881494B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AFEB091-7AD1-45B2-94FF-45A4D9CE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01B0072-E8F8-4C4C-8968-7DC91255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063A165-D680-4660-AE24-4E308C92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6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1DDB0EA-B360-47A6-82A8-EEC416F5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Completion Pack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E4A4BD1-BF6E-4402-9566-8A8D8351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Human-approved evidence package</a:t>
            </a:r>
            <a:endParaRPr sz="9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B8A314B-0099-41C2-89ED-AF7173C8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148072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155EEF"/>
                </a:solidFill>
                <a:latin typeface="Arial"/>
                <a:ea typeface="Arial"/>
                <a:cs typeface="Arial"/>
              </a:rPr>
              <a:t>Core promise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D0C2653-EB61-4DBF-B7DC-DB5240D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86400"/>
            <a:ext cx="10698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was required? What proof exists? What blocks billing? What should happen next?</a:t>
            </a:r>
            <a:endParaRPr sz="180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A9F86E8-34EE-479C-AB6A-4C189F802D5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30539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DE2815-2677-4CE7-97F3-75D62C72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05 - GOLDEN DEMO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4DC34B-0322-4643-948E-6BF2DFF4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WO-1028: reported complete, but still blocked.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C525CA-2163-4D43-BB33-B3E4251A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Synthetic HVAC preventive-maintenance case.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6E79DD-FA99-43AC-AF2C-71F05E8E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F90B9-25BA-4192-ADC7-821B7D0F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05740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JOB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1A867BF-81FE-4524-AB7E-264EC9DB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84248"/>
            <a:ext cx="13716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WO-1028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82AB62B-A741-405C-AB2C-6DA23964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057400"/>
            <a:ext cx="822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FIELD STATUS</a:t>
            </a:r>
            <a:endParaRPr sz="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FF71BB7-ECCD-42F6-AA6A-55920331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2002536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ECFDF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EFA8E05-028D-434E-8883-4BC81EE0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2020824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REPORTED COMPLETE</a:t>
            </a:r>
            <a:endParaRPr sz="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4BF42F3-7F80-46A4-84D4-52D66A9A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057400"/>
            <a:ext cx="1143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BILLING READINESS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49EE45D-48CF-4B11-A0B7-0A1377F4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632" y="2002536"/>
            <a:ext cx="86868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AA9A497-7E05-41ED-BE50-8BC77883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020824"/>
            <a:ext cx="685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BLOCKED</a:t>
            </a:r>
            <a:endParaRPr sz="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33A3E71-7F62-402D-A443-2F6C853A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057400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PROGRESS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7BF357-D47B-4378-B79D-85B0695C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975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74%*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93670C-21A7-4B74-91FF-1F5A4B99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039112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00">
                <a:solidFill>
                  <a:srgbClr val="667085"/>
                </a:solidFill>
                <a:latin typeface="Arial"/>
                <a:ea typeface="Arial"/>
                <a:cs typeface="Arial"/>
              </a:rPr>
              <a:t>*UX progress only</a:t>
            </a:r>
            <a:endParaRPr sz="7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7A41A2C-0916-4DD2-B7FE-4B8087A6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D30F9C7-A7D2-4761-B7BE-F7B17184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981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D30A7C3-4565-423C-B3B6-D99D8AA2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1810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F489317-2C5E-4A0C-A7A7-42DF048E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0837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Customer completion acknowledgement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C7A8439-2D83-4CD4-829B-C88C84B2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9008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Expected signed/recorded acceptance; no evidence found.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787014F-4398-42C7-AD8E-345BA54F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7FD97A5-15B8-447D-B08D-FF5E58DF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993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1D8114F-A821-408B-8C73-9C433D2D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07822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AMBIGUOUS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30DA78C-E8D0-4E00-87EB-DD071C84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96849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Post-service cooling performance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54C9948-C3FE-46C1-A6D3-D3F11FC9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95020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Technician claim exists; measurable supporting result is not linked.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9B9E526-A3B3-4D38-AF96-9510C21A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0060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5B25450-6A03-44FE-B038-E19F423F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2005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F47B9C6-CB26-448C-99F9-6979BF97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3834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0575AAA-F8F8-44F2-A471-9A25C70E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92861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Final service report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1FED704-3177-4F87-AADB-F93B06E1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491032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Generate draft only after verified facts and approval.</a:t>
            </a:r>
            <a:endParaRPr sz="9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C37D2617-04BC-4EBB-97B0-589DFDC3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925312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Synthetic evidence is labelled. Missing items stay blocked until a person reviews the pack.</a:t>
            </a:r>
            <a:endParaRPr sz="130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202E27-1DD9-45AD-8850-E737671C095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815139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00BC9E-CD6F-452A-BB3F-5B58A2C5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06 - WHAT MAKES IT DIFFERENT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BF603B3-F977-44AA-9688-6AD71357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Reason over evidence - not just collect files.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0955FD-D891-4B64-AC93-9D4A0535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657600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6490F92-9550-435A-A491-94157B9D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860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Requirement</a:t>
            </a:r>
            <a:endParaRPr sz="1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BAA7185-6351-4EF0-B3A7-083C9BB0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70048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Customer completion acknowledgement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E2786D-03E0-4618-8052-E86F8D7C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37560"/>
            <a:ext cx="1005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468445-5602-4854-BDAD-08E030E6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84448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SOW-1028#acceptance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801C14D-3A8F-4026-992F-436C4FE3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96512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Expected evidence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97FA581-50A4-4C08-A897-00D4C71E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43400"/>
            <a:ext cx="2651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Signed service acknowledgement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B85712-5474-4898-B439-CD3C56E3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02152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FA14D2F-5BD5-4115-9EC2-2907462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965960"/>
            <a:ext cx="2743200" cy="35204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8554C3C-06F0-4FAA-AD11-B80EEF74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860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Evidence found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B0C2583-7B66-456B-BC12-BFFFF996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52928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NONE</a:t>
            </a:r>
            <a:endParaRPr sz="2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959E07-5F4E-4862-9C31-EFA609A0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Status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ABBAB36-6B43-430B-A1BA-CB0E81D4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6908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15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1776FF1-C5E5-4C98-83AF-A2228979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634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No proof -&gt; no final ready state.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DC0B27C-432D-4931-9347-4EE1E079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232" y="3502152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3D752BA-238D-43D3-8676-2F482EE3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1965960"/>
            <a:ext cx="3602736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D6CBAFA-9AF0-43E4-A0A0-6270E1B4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86000"/>
            <a:ext cx="2560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Agentic next action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1F54DFF-60B0-4930-B055-E9D12B40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834640"/>
            <a:ext cx="28346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Prepare customer sign-off request</a:t>
            </a:r>
            <a:endParaRPr sz="17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34AF174-441F-4E04-889A-9392BD80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73075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Owner: Operations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2663460-D92B-4186-88E7-9ABF9572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05079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External action: YES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77C8761-7307-4ACD-86BF-3D60E774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645152"/>
            <a:ext cx="224028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4E38BB7-34FD-4D51-AC42-4F1D185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663440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 APPROVAL REQUIRED</a:t>
            </a:r>
            <a:endParaRPr sz="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B51180F-3978-4842-A5CA-4EC52C3AB23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8207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A56B0E7-8B1C-41B2-9FB4-0C64BCA8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07 - TECHNICAL ARCHITECTURE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D4018E-41C8-4282-BB7D-86C8488D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 where useful. Rules where critical. Humans where consequential.</a:t>
            </a:r>
            <a:endParaRPr sz="270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fff39ad484a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874520"/>
            <a:ext cx="10927080" cy="349300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2977D47-DD4F-4425-9403-584D722B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2CCFF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B50D028-FA51-4A40-8EB8-9206C7C5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23560"/>
            <a:ext cx="29260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IBM Bob: MCP connection confirmed</a:t>
            </a:r>
            <a:endParaRPr sz="9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F3BB3FB-9BC9-4FC3-9A41-B232DEC5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A6F4C5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281D61C-ECDF-4BEF-8280-5078D3F7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623560"/>
            <a:ext cx="29260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Langflow: reusable execution flows</a:t>
            </a:r>
            <a:endParaRPr sz="9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35FF22CE-1747-4D06-BEBF-CF0CAA69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AD4CD27-4A1E-4BE6-8403-EA9A7F5A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623560"/>
            <a:ext cx="288036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Human: approval for consequential actions</a:t>
            </a:r>
            <a:endParaRPr sz="92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E59E273-CDB7-47AE-A165-5243229D5A6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208273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F956C6-BA58-42E5-B84E-BD6E6EDF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08 - AGENT WORKFLOW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CCF488-4ECA-4A6B-ACC2-FF5DA560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Langflow MCP tools are connected. Bob calls await verification.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1480F5-7C1A-40E0-89FC-7595662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56232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733342-C56F-4902-B2C8-8AEF901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1947672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F619971-C03E-470E-B6BF-72121445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65960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USER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B19A0A7-BAEC-4AF0-A5B2-431D6D61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1938528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"Check whether WO-1028 is ready for billing."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E3AAB7D-C620-4F1D-8C52-840AED0A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31720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579545E-3928-448D-9868-E9731BBE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14600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B3025C-C695-47AE-8FC2-59D0ADE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606040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E87EABB-04A5-4EFB-A353-AD0124EE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2624328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IBM BOB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EB10C0F-688E-45F3-ABFF-EB67EF13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596896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MCP connection confirmed; tool call unverified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146F926-A8A2-44D1-805B-003D420E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990088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C7BD204-1E1F-4C09-8608-8FC553FC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72968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A994137-5652-48DE-A3DD-2BE5B8CC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264408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9B736C0-7C28-4CAD-8B0D-93018D3B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282696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MCP</a:t>
            </a:r>
            <a:endParaRPr sz="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8AB43F7-A1A6-4507-965C-F812C335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255264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tool name + JSON arguments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3340293-96D2-4F95-A022-F499CE98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648456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80FB0CA-D003-42AE-B8FF-DD7A9A0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31336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E8F8F2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6B11B4A-78C6-463F-B991-1371F043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922776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E8F8F2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A17E8BF-AD10-4521-BF6D-A036ADB0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941064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LANGFLOW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5C667E4-4030-4C1F-A038-42B4B6C9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913632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Source fields -&gt; transparent rules -&gt; JSON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F69F347-0E79-43CE-ACF6-02A298BF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306824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A152DDF-9A36-42E5-96A8-5A6204FC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9704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C212B99-BA7A-4398-B42C-17AE7BA3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581144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C2FC3F9-D701-442C-9DC0-895F5F99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599432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BOB</a:t>
            </a:r>
            <a:endParaRPr sz="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2B57D9F-C7FB-4338-B7CB-D9D57517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457200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Bob tool response still unverified</a:t>
            </a:r>
            <a:endParaRPr sz="12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CC2B59-0A26-4541-8C4D-9BFB91BA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965192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203B40C-41FE-42A8-9902-FB4E626A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48072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A653114-9646-47AD-AC79-6A5B5963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5239512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E1748DA-549F-40D7-A43D-C461EEC3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5257800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64A7A6A-FCC1-4AC2-9092-622AB0F6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230368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Approves consequential action</a:t>
            </a:r>
            <a:endParaRPr sz="12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7FAF8AF-D8A1-4E17-9C2A-0BDAE836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058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Key technical rule: tool descriptions are business contracts - narrow names, stable inputs, structured outputs, explicit non-goals.</a:t>
            </a:r>
            <a:endParaRPr sz="11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724B24F-DC29-4E72-81CE-EADF7D1DB08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22531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924A7C-773D-4B5B-8C8E-05327FDE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09 - RESPONSIBLE AI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F90854-D38C-4512-AF15-1C632703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assists with evidence. It does not manufacture proof.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10082FA-D73C-4254-8C49-6738F4F4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63DE22-B7D6-4DB7-9E77-A07DCD86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6C86233-21CD-4A1F-9FB6-49FBF8B1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AI</a:t>
            </a:r>
            <a:endParaRPr sz="8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A945B61-5F36-42F5-9418-79DC8182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25DB23A-3405-493D-83CE-2FD926A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Interpret notes / documents</a:t>
            </a:r>
            <a:endParaRPr sz="10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DADA289-93BE-4B02-A47C-24B9E55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45044FE-19C0-4B56-8EE5-567B4FC3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Extract completion claims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DD3BAD-0247-4622-8261-13BA0BE2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3E6C1BD-CDA9-4082-899F-977BB46F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Retrieve requirements</a:t>
            </a:r>
            <a:endParaRPr sz="10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CEE3DF1-E077-4D82-B25B-7BC0E29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739EEAB-A3BF-47FB-9838-9D43A219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Propose evidence matches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83CAEFB-1425-4CF2-B062-2451B18C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A636CE-F7DB-4480-9956-15010409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Explain ambiguity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FA315C3-8C5E-4916-87D7-3DA22D2A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0176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87F8133-6C31-4EFE-B0C9-59397597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89204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Plan next action</a:t>
            </a:r>
            <a:endParaRPr sz="1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0AF2997-7ED1-45A1-B91E-E1EEF620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2765251-1DB1-4B12-A743-7CC1255D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2193944-B8DE-4341-84DA-E076F135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RULES</a:t>
            </a:r>
            <a:endParaRPr sz="8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B1E844-DEF3-4451-BA4E-5AE6D58D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59B344E-E088-432B-A25A-45E77CA1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Critical blocker policy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D8E1DEA-CA73-43E9-B6B6-1BE93360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B530561-3D42-4348-8BD1-5D515BE1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Valid state transitions</a:t>
            </a:r>
            <a:endParaRPr sz="10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48A4B88-BFA1-45F1-AAD9-AFC3B295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F90A51B-67A1-4723-8182-5240AADD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Approval requirements</a:t>
            </a:r>
            <a:endParaRPr sz="1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E65B64D-BD08-46E0-96D6-0FF05A46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2EE7A4C-7CB4-4ECB-99F4-FAD7EE95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Required / optional flags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B87A3BD-CBA3-4805-B96D-66B320C2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189EFB4-3F0D-4ABD-BBA6-8253696C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Presence/date checks</a:t>
            </a:r>
            <a:endParaRPr sz="10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9089652-3855-456D-A837-2B1733A3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CC21680-432E-4AD5-97C5-B983AE2D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F90640E-4489-4251-A458-05BFB6E4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</a:t>
            </a:r>
            <a:endParaRPr sz="8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C7DDA8D-DFAA-4CB5-810B-C6B7DFA5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7D0A205-46D8-440D-AFD6-E3B16E4C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Confirm final readiness</a:t>
            </a:r>
            <a:endParaRPr sz="10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024CDAE5-362A-46C3-9E87-5888BFAE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8B5AB3B-0DEF-4A24-9C31-E7698D7E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Approve customer-facing action</a:t>
            </a:r>
            <a:endParaRPr sz="10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72F8A0CB-981D-47BA-835C-35F400D2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3754DF-6F9F-4CD1-843A-2E5E819C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Review ambiguous evidence</a:t>
            </a:r>
            <a:endParaRPr sz="100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24F96C6E-37FB-46C7-8646-69AFF821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8662946-1DB7-4DBE-B4C0-E6B8A31F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Approve external completion pack</a:t>
            </a:r>
            <a:endParaRPr sz="10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916A13B6-D138-4DD0-BABB-6B1AEA45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F689E87D-80E6-4B88-BDD5-CAA1B960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Authorize downstream billing</a:t>
            </a:r>
            <a:endParaRPr sz="100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4E59397A-0688-4CD9-93FE-E59B8D82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42432"/>
            <a:ext cx="10744200" cy="41148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F052152-9C21-4A8A-92C5-93208E6C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833872"/>
            <a:ext cx="102412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Never: invent evidence, authenticate signatures, issue invoices, move money, or bypass unresolved critical requirements.</a:t>
            </a:r>
            <a:endParaRPr sz="970"/>
          </a:p>
        </p:txBody>
      </p:sp>
      <p:sp>
        <p:nvSpPr>
          <p:cNvPr id="4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FA9D9B8-4C9F-46D0-9981-80E172BA1BB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2447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30E1B19-95D2-4D13-85C8-DF676D9F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10 - MARKET POSITIONING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3A3E6E-3499-4E17-9A4F-64BE2D60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 not replace the stack. Fix one expensive handoff extremely well.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5C83015-D4EE-4D37-963E-0AFABB59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08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Existing stack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4441850-EA35-44E2-9E27-0D9EC755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F54508-F4F8-43DE-B626-2D2F940E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774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WhatsApp / Email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7CFDF1C-138E-47E7-8675-BAE86585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0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6600D0-3BE0-4B99-A89C-DEFFDF9E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03580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Drive / Files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9C26119-4B36-4B62-AEF4-6ADD6FC5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4448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05AD6C7-1A0A-46E5-9073-264926CC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94176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FSM / Work Orders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F6FC243-AB9F-40C6-82BC-17EF09BA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2816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4E64F6C-268A-4E03-BEEC-0D0522C5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52544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Accounting / ERP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C1F782-33ED-47C6-83A2-26053E2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2735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6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0CBEA26-96D9-4BC9-B16B-D869D930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121408"/>
            <a:ext cx="3657600" cy="3182112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78BB8E-CA43-4E3A-B098-39DF9CA0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48716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PROOF2PAY</a:t>
            </a:r>
            <a:endParaRPr sz="2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A3696B7-167C-44E6-8247-84838278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63240"/>
            <a:ext cx="29260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Evidence-to-Billing</a:t>
            </a:r>
            <a:endParaRPr sz="1700"/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Intelligence Layer</a:t>
            </a:r>
            <a:endParaRPr sz="17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3A721D2-CDA5-41CE-817B-BD3D134E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114800"/>
            <a:ext cx="29260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Requirement -&gt; Evidence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Blocker -&gt; Action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Human -&gt; Approval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8546205-1897-4D19-8E90-C3DA6B95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2735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FC19008-C4CA-47CE-A6AF-95DC343D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847088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Outcome</a:t>
            </a:r>
            <a:endParaRPr sz="11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42B313A-182C-4D02-9663-50DC3B63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267712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A6F4C5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4312644-59AE-443F-ABD2-E8ED2ACA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532888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Verified completion pack</a:t>
            </a:r>
            <a:endParaRPr sz="15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63DF06-5748-4E23-ABE1-74C52EF8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429000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2CCF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B5D05D-279C-4BB6-AB3C-1A7038E1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694176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Billing-ready handoff</a:t>
            </a:r>
            <a:endParaRPr sz="15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31CF041-D299-45B6-B5B3-C5DDEC2A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590288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AB3E0C0-C23F-40B3-8644-52ADD120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855464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Existing billing system</a:t>
            </a:r>
            <a:endParaRPr sz="15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9D70ECA-061B-472C-A005-95A6E4AF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80">
                <a:solidFill>
                  <a:srgbClr val="667085"/>
                </a:solidFill>
                <a:latin typeface="Arial"/>
                <a:ea typeface="Arial"/>
                <a:cs typeface="Arial"/>
              </a:rPr>
              <a:t>Competitor category examples: ServiceTitan and ServiceM8 official product/help documentation.</a:t>
            </a:r>
            <a:endParaRPr sz="680"/>
          </a:p>
        </p:txBody>
      </p:sp>
      <p:sp>
        <p:nvSpPr>
          <p:cNvPr id="2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202A73D-68AB-4E3A-9898-68333CB7A6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83852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457E044-6839-48B3-84B3-3E9AF4AA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11 - BUSINESS &amp; ROADMAP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1CA6AB-6B05-4CC2-90CD-3EBBBC7A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Start narrow. Prove the workflow. Expand through templates and integrations.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DBE8773-BCDC-4BFE-8A48-8CC0245E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01952"/>
            <a:ext cx="3657600" cy="3547872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522123-9C4C-469D-BD07-2757643C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29718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Business model hypothesis</a:t>
            </a:r>
            <a:endParaRPr sz="1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FB8E18-0643-445B-8B8B-3A97BECE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260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678A98-A7AF-4B55-B3ED-060C857C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816352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B2B SaaS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4040692-4AE9-4725-881C-A4452F32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0156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661A0C4-F9C7-4987-B0EA-DE996E73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291840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Tier by active field team / job volume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7DFEAA4-FDE0-473B-B9EF-61624736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770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1F53ED-1DE2-490E-B9A2-8E360E7A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767328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Pro: integrations + custom templates + analytics</a:t>
            </a:r>
            <a:endParaRPr sz="11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6B7260C-977A-4E71-A1B0-90C4F69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4805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0299603-083F-479B-A34F-5FCCFC1B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370832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Enterprise/API: governance + private integration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F920E54-D798-43BD-8BAE-1F70B4A8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37760"/>
            <a:ext cx="21488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CFE89CB-887F-4E8C-A255-8CDE1899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56048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PRICING NOT YET VALIDATED</a:t>
            </a:r>
            <a:endParaRPr sz="8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F7DF020-367B-4CCB-A39C-EF5F4615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901952"/>
            <a:ext cx="7068312" cy="3547872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19D2B6-4659-4C78-ABCA-1926D305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219456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Expansion path</a:t>
            </a:r>
            <a:endParaRPr sz="16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240FAF0-86A5-42EF-A2CD-6249C947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2816352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1C588D6-0D5D-4046-93A2-257154FF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834640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NOW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8AFEDAC-DADC-4705-92E4-7F2DB78F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798064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Hackathon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D9ADDFB-9A95-4261-8A2E-3C718A70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70632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3 public HVAC records + synthetic browser demo</a:t>
            </a:r>
            <a:endParaRPr sz="98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34D3D07-7AFA-4DF5-9847-A272FC7E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3621024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85932AB-069E-4B9B-940F-7B0C82D3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639312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NEXT</a:t>
            </a:r>
            <a:endParaRPr sz="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E561CCA-3BF6-40FF-958D-AD244BCA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602736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Pilot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2FD0E83-E3AB-4E11-8774-BAF64E7B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75304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Consented user data + integrations + evaluation set</a:t>
            </a:r>
            <a:endParaRPr sz="98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6A7A7A2-3FBB-43D5-AEA2-9CDE45EC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4425696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EF5AA66-AF67-477B-B6B1-880200EF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443984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LATER</a:t>
            </a:r>
            <a:endParaRPr sz="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551AF21-8E50-4949-AD9F-46D8D065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407408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</a:t>
            </a:r>
            <a:endParaRPr sz="12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A2E27F-77FF-4E94-9B1E-EB684F3D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379976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Vertical templates + multi-tenant governance + connectors</a:t>
            </a:r>
            <a:endParaRPr sz="98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C690C38-3304-404E-89B7-C59CF507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5120640"/>
            <a:ext cx="6126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NYC Parks AMPS work orders 2791739, 2792582, 2792861. Public records do not include billing proof.</a:t>
            </a:r>
            <a:endParaRPr sz="950"/>
          </a:p>
        </p:txBody>
      </p:sp>
      <p:sp>
        <p:nvSpPr>
          <p:cNvPr id="3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4C9A230-98DD-4BB9-BD28-BDDCE364E64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6919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52B5ABC-0331-4859-A596-A1F3667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749808"/>
            <a:ext cx="12984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1D293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AA19100-A336-4227-8C41-5CDFE448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768096"/>
            <a:ext cx="1115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PROOF2PAY AI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277BA4B-503F-4C5F-8BA7-20558EA0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06070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Finished != Billable.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FFE834F-EDDF-4B62-A6A3-DDBD0841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32888"/>
            <a:ext cx="9875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D0D5DD"/>
                </a:solidFill>
                <a:latin typeface="Arial"/>
                <a:ea typeface="Arial"/>
                <a:cs typeface="Arial"/>
              </a:rPr>
              <a:t>PROOF2PAY turns completed work into proven work - so billing can move forward with evidence, not assumptions.</a:t>
            </a:r>
            <a:endParaRPr sz="2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DBD7B52-4339-446A-AFA5-AB6DFA25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078992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344054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D0DB9CF-7488-419B-8A95-FF452CBC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507992"/>
            <a:ext cx="101955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Finish the job.   Prove the job.   Get paid.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DA1167-1F7E-418E-8889-30890177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96128"/>
            <a:ext cx="10424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IBM Bob + MCP + Langflow | Human-governed Evidence Intelligence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BC6D0DE-2CAC-4106-8A51-40B2EA59EF9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20750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2026-09-27T19:06:35.1540000Z</dcterms:created>
  <dcterms:modified xsi:type="dcterms:W3CDTF">2026-09-27T19:06:35.1540000Z</dcterms:modified>
</coreProperties>
</file>
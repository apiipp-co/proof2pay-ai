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a4ee0a9d4b4436" /><Relationship Type="http://schemas.openxmlformats.org/officeDocument/2006/relationships/extended-properties" Target="/docProps/app.xml" Id="R40e5b0db9ef94ccc" /><Relationship Type="http://schemas.openxmlformats.org/officeDocument/2006/relationships/officeDocument" Target="/ppt/presentation.xml" Id="Rccdedaf9a7f645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831e1a9a6b4293"/>
  </p:sldMasterIdLst>
  <p:notesMasterIdLst>
    <p:notesMasterId xmlns:r="http://schemas.openxmlformats.org/officeDocument/2006/relationships" r:id="R041e14d8c81b4432"/>
  </p:notesMasterIdLst>
  <p:sldIdLst>
    <p:sldId xmlns:r="http://schemas.openxmlformats.org/officeDocument/2006/relationships" id="256" r:id="R89fb6d961eb443cd"/>
    <p:sldId xmlns:r="http://schemas.openxmlformats.org/officeDocument/2006/relationships" id="257" r:id="R977cb305309b4ab7"/>
    <p:sldId xmlns:r="http://schemas.openxmlformats.org/officeDocument/2006/relationships" id="258" r:id="R13836fa7785d435c"/>
    <p:sldId xmlns:r="http://schemas.openxmlformats.org/officeDocument/2006/relationships" id="259" r:id="Ra0d5b5094d424a4a"/>
    <p:sldId xmlns:r="http://schemas.openxmlformats.org/officeDocument/2006/relationships" id="260" r:id="R9c5ca5f82d1c4f35"/>
    <p:sldId xmlns:r="http://schemas.openxmlformats.org/officeDocument/2006/relationships" id="261" r:id="Rf8066d4e3c7c49f0"/>
    <p:sldId xmlns:r="http://schemas.openxmlformats.org/officeDocument/2006/relationships" id="262" r:id="Ra19f045a65e14b10"/>
    <p:sldId xmlns:r="http://schemas.openxmlformats.org/officeDocument/2006/relationships" id="263" r:id="R6f401dd2e7ed45d5"/>
    <p:sldId xmlns:r="http://schemas.openxmlformats.org/officeDocument/2006/relationships" id="264" r:id="R64575ae77665469a"/>
    <p:sldId xmlns:r="http://schemas.openxmlformats.org/officeDocument/2006/relationships" id="265" r:id="R883f89264fe44c9c"/>
    <p:sldId xmlns:r="http://schemas.openxmlformats.org/officeDocument/2006/relationships" id="266" r:id="Rb5d9770e87d043f6"/>
    <p:sldId xmlns:r="http://schemas.openxmlformats.org/officeDocument/2006/relationships" id="267" r:id="Rebaab53a87704e20"/>
    <p:sldId xmlns:r="http://schemas.openxmlformats.org/officeDocument/2006/relationships" id="268" r:id="Rdaf893954b4242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8bfaff4ddd4085" /><Relationship Type="http://schemas.openxmlformats.org/officeDocument/2006/relationships/slideMaster" Target="/ppt/slideMasters/slideMaster1.xml" Id="Raa831e1a9a6b4293" /><Relationship Type="http://schemas.openxmlformats.org/officeDocument/2006/relationships/notesMaster" Target="/ppt/notesMasters/notesMaster1.xml" Id="R041e14d8c81b4432" /><Relationship Type="http://schemas.openxmlformats.org/officeDocument/2006/relationships/presProps" Target="/ppt/presProps.xml" Id="R6250a4ba617f452e" /><Relationship Type="http://schemas.openxmlformats.org/officeDocument/2006/relationships/viewProps" Target="/ppt/viewProps.xml" Id="Re322ef8ad81c46b7" /><Relationship Type="http://schemas.openxmlformats.org/officeDocument/2006/relationships/tableStyles" Target="/ppt/tableStyles.xml" Id="Rc05252e7925943e3" /><Relationship Type="http://schemas.openxmlformats.org/officeDocument/2006/relationships/slide" Target="/ppt/slides/slide1.xml" Id="R89fb6d961eb443cd" /><Relationship Type="http://schemas.openxmlformats.org/officeDocument/2006/relationships/slide" Target="/ppt/slides/slide2.xml" Id="R977cb305309b4ab7" /><Relationship Type="http://schemas.openxmlformats.org/officeDocument/2006/relationships/slide" Target="/ppt/slides/slide3.xml" Id="R13836fa7785d435c" /><Relationship Type="http://schemas.openxmlformats.org/officeDocument/2006/relationships/slide" Target="/ppt/slides/slide4.xml" Id="Ra0d5b5094d424a4a" /><Relationship Type="http://schemas.openxmlformats.org/officeDocument/2006/relationships/slide" Target="/ppt/slides/slide5.xml" Id="R9c5ca5f82d1c4f35" /><Relationship Type="http://schemas.openxmlformats.org/officeDocument/2006/relationships/slide" Target="/ppt/slides/slide6.xml" Id="Rf8066d4e3c7c49f0" /><Relationship Type="http://schemas.openxmlformats.org/officeDocument/2006/relationships/slide" Target="/ppt/slides/slide7.xml" Id="Ra19f045a65e14b10" /><Relationship Type="http://schemas.openxmlformats.org/officeDocument/2006/relationships/slide" Target="/ppt/slides/slide8.xml" Id="R6f401dd2e7ed45d5" /><Relationship Type="http://schemas.openxmlformats.org/officeDocument/2006/relationships/slide" Target="/ppt/slides/slide9.xml" Id="R64575ae77665469a" /><Relationship Type="http://schemas.openxmlformats.org/officeDocument/2006/relationships/slide" Target="/ppt/slides/slide10.xml" Id="R883f89264fe44c9c" /><Relationship Type="http://schemas.openxmlformats.org/officeDocument/2006/relationships/slide" Target="/ppt/slides/slide11.xml" Id="Rb5d9770e87d043f6" /><Relationship Type="http://schemas.openxmlformats.org/officeDocument/2006/relationships/slide" Target="/ppt/slides/slide12.xml" Id="Rebaab53a87704e20" /><Relationship Type="http://schemas.openxmlformats.org/officeDocument/2006/relationships/slide" Target="/ppt/slides/slide13.xml" Id="Rdaf893954b4242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3af93b602a4f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67a8acaebc4e7e" /><Relationship Type="http://schemas.openxmlformats.org/officeDocument/2006/relationships/notesMaster" Target="/ppt/notesMasters/notesMaster1.xml" Id="Rb827ed04bb0748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c2342a739441ce" /><Relationship Type="http://schemas.openxmlformats.org/officeDocument/2006/relationships/notesMaster" Target="/ppt/notesMasters/notesMaster1.xml" Id="Reb8057902fef48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0308d009ce4747" /><Relationship Type="http://schemas.openxmlformats.org/officeDocument/2006/relationships/notesMaster" Target="/ppt/notesMasters/notesMaster1.xml" Id="Re7f7df7c19a24f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d0a084c0414812" /><Relationship Type="http://schemas.openxmlformats.org/officeDocument/2006/relationships/notesMaster" Target="/ppt/notesMasters/notesMaster1.xml" Id="Ra889563dcd1847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ea2a29b0074fa8" /><Relationship Type="http://schemas.openxmlformats.org/officeDocument/2006/relationships/notesMaster" Target="/ppt/notesMasters/notesMaster1.xml" Id="R8d2d4c14730749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f6e786f0fe40e3" /><Relationship Type="http://schemas.openxmlformats.org/officeDocument/2006/relationships/notesMaster" Target="/ppt/notesMasters/notesMaster1.xml" Id="R844ee6a714d843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11139d63e84040" /><Relationship Type="http://schemas.openxmlformats.org/officeDocument/2006/relationships/notesMaster" Target="/ppt/notesMasters/notesMaster1.xml" Id="Rf9bff163fc3448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7df6bc7750447c" /><Relationship Type="http://schemas.openxmlformats.org/officeDocument/2006/relationships/notesMaster" Target="/ppt/notesMasters/notesMaster1.xml" Id="Rf06217c4265441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ee251a1af945a7" /><Relationship Type="http://schemas.openxmlformats.org/officeDocument/2006/relationships/notesMaster" Target="/ppt/notesMasters/notesMaster1.xml" Id="R1f77478c7203492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f9cec2796d4974" /><Relationship Type="http://schemas.openxmlformats.org/officeDocument/2006/relationships/notesMaster" Target="/ppt/notesMasters/notesMaster1.xml" Id="R4fe15808c7ed43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c351c155ef4c26" /><Relationship Type="http://schemas.openxmlformats.org/officeDocument/2006/relationships/notesMaster" Target="/ppt/notesMasters/notesMaster1.xml" Id="Re2e6dfbd51444c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bbd399316c4399" /><Relationship Type="http://schemas.openxmlformats.org/officeDocument/2006/relationships/notesMaster" Target="/ppt/notesMasters/notesMaster1.xml" Id="R8584cdc2f78c41c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91eb4d88be141c2" /><Relationship Type="http://schemas.openxmlformats.org/officeDocument/2006/relationships/notesMaster" Target="/ppt/notesMasters/notesMaster1.xml" Id="R358078fba70b4b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Secondary evidence only. These published cases are not interviews or pilots conducted by PROOF2PAY AI.</a:t>
            </a:r>
            <a:endParaRPr/>
          </a:p>
          <a:p xmlns:a="http://schemas.openxmlformats.org/drawingml/2006/main">
            <a:r>
              <a:t>PT Putra Bajubang/Pertamina Jambi thesis, UNAMA (2022): handwritten technician logs and repeated administration cross-checks. https://repository.unama.ac.id/2644/</a:t>
            </a:r>
            <a:endParaRPr/>
          </a:p>
          <a:p xmlns:a="http://schemas.openxmlformats.org/drawingml/2006/main">
            <a:r>
              <a:t>CV Pelangi Teknik study, Journal Speed (2021): WhatsApp orders, paper notes and receipts that can be misplaced. https://doi.org/10.55181/speed.v13i2.700</a:t>
            </a:r>
            <a:endParaRPr/>
          </a:p>
          <a:p xmlns:a="http://schemas.openxmlformats.org/drawingml/2006/main">
            <a:r>
              <a:t>CV Kurniatama thesis, UKDW (2016): customers received cost and parts information without detailed service information. https://repository.ukdw.ac.id/2774/</a:t>
            </a:r>
            <a:endParaRPr/>
          </a:p>
          <a:p xmlns:a="http://schemas.openxmlformats.org/drawingml/2006/main">
            <a:r>
              <a:t>Other workflow references: ServiceTitan official help and ServiceM8 official help. Product prevalence, Indonesian SME demand, time savings, and willingness to pay remain unvalidated.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NYC Parks AMPS work orders, published by NYC Open Data: https://data.cityofnewyork.us/d/8sdw-8vja . Selected public records 2791739, 2792582, 2792861. Retrieved 28 September 2026 Jakarta. This is genuine public operational metadata, not a customer pilot or proof of billability. Snapshot and exact query: data/public/nyc-parks-work-orders.json.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475e1ae6bc401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f0dbe9ac6d4e03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92AD5C0-1F61-49C5-B510-BC740AFE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B584784-255C-44D8-9095-AB293222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2194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PROOF2PAY AI</a:t>
            </a:r>
            <a:endParaRPr sz="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B26F15E-5DD2-437B-9050-5C2FA1C4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6510528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98A2B3"/>
                </a:solidFill>
                <a:latin typeface="Arial"/>
                <a:ea typeface="Arial"/>
                <a:cs typeface="Arial"/>
              </a:rPr>
              <a:t>Hackathon MVP | Synthetic demo data unless cited</a:t>
            </a:r>
            <a:endParaRPr sz="7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F54907E-FD0C-4D3F-8ADA-29114715A8B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86032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1002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8762752cfb4ddd" /><Relationship Type="http://schemas.openxmlformats.org/officeDocument/2006/relationships/slideLayout" Target="/ppt/slideLayouts/slideLayout1.xml" Id="R333501a61e4e4c8b" /><Relationship Type="http://schemas.openxmlformats.org/officeDocument/2006/relationships/slideLayout" Target="/ppt/slideLayouts/slideLayout2.xml" Id="R46a6e5f1d0d440d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AAAD0E01-A2FC-431B-A33A-3C6B1750C62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86032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3501a61e4e4c8b"/>
    <p:sldLayoutId xmlns:r="http://schemas.openxmlformats.org/officeDocument/2006/relationships" id="2147483650" r:id="R46a6e5f1d0d440da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448dbe16d54981" /><Relationship Type="http://schemas.openxmlformats.org/officeDocument/2006/relationships/notesSlide" Target="/ppt/notesSlides/notesSlide1.xml" Id="R52bc43b0bcb74d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aadb9c8fe64ac9" /><Relationship Type="http://schemas.openxmlformats.org/officeDocument/2006/relationships/notesSlide" Target="/ppt/notesSlides/notesSlide2.xml" Id="R6684f065eacb49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f9d4a9069941e8" /><Relationship Type="http://schemas.openxmlformats.org/officeDocument/2006/relationships/notesSlide" Target="/ppt/notesSlides/notesSlide3.xml" Id="Rfff71eaff1054d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84b80faaf24197" /><Relationship Type="http://schemas.openxmlformats.org/officeDocument/2006/relationships/notesSlide" Target="/ppt/notesSlides/notesSlide4.xml" Id="Rd9678ea6334e4e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ab4420512d435d" /><Relationship Type="http://schemas.openxmlformats.org/officeDocument/2006/relationships/notesSlide" Target="/ppt/notesSlides/notesSlide5.xml" Id="R16a2c303c5a942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55ab631f86459a" /><Relationship Type="http://schemas.openxmlformats.org/officeDocument/2006/relationships/notesSlide" Target="/ppt/notesSlides/notesSlide6.xml" Id="R849f9de8aa534e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551fb056c549a3" /><Relationship Type="http://schemas.openxmlformats.org/officeDocument/2006/relationships/notesSlide" Target="/ppt/notesSlides/notesSlide7.xml" Id="Re427148e9f3e40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efe46cd2cd4c4f" /><Relationship Type="http://schemas.openxmlformats.org/officeDocument/2006/relationships/image" Target="/ppt/media/image.png" Id="Rc3e67a0ffc434cfd" /><Relationship Type="http://schemas.openxmlformats.org/officeDocument/2006/relationships/notesSlide" Target="/ppt/notesSlides/notesSlide8.xml" Id="R2ff4ed7795df4d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32ea667ddc4cb9" /><Relationship Type="http://schemas.openxmlformats.org/officeDocument/2006/relationships/notesSlide" Target="/ppt/notesSlides/notesSlide9.xml" Id="R676595ff53ba4d3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5ba591578d4254" /><Relationship Type="http://schemas.openxmlformats.org/officeDocument/2006/relationships/notesSlide" Target="/ppt/notesSlides/notesSlide10.xml" Id="Rde0a115d72ef4c5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826b4818a3413b" /><Relationship Type="http://schemas.openxmlformats.org/officeDocument/2006/relationships/notesSlide" Target="/ppt/notesSlides/notesSlide11.xml" Id="Rd0b53625e0734b3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49dbaf0fb24c35" /><Relationship Type="http://schemas.openxmlformats.org/officeDocument/2006/relationships/notesSlide" Target="/ppt/notesSlides/notesSlide12.xml" Id="R1fce2309615c4a8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fd2d6534d64776" /><Relationship Type="http://schemas.openxmlformats.org/officeDocument/2006/relationships/notesSlide" Target="/ppt/notesSlides/notesSlide13.xml" Id="R36d69155f4a04d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66DA784-54E3-4F46-96E5-3C798092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ADFF"/>
          </a:solidFill>
          <a:ln xmlns:a="http://schemas.openxmlformats.org/drawingml/2006/main" w="12700">
            <a:solidFill>
              <a:srgbClr val="84ADF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592166C-A272-48E4-9F53-DA70B982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85800"/>
            <a:ext cx="242316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D2939"/>
          </a:solidFill>
          <a:ln xmlns:a="http://schemas.openxmlformats.org/drawingml/2006/main" w="12700">
            <a:solidFill>
              <a:srgbClr val="1D2939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FF33DC7-69C2-4638-ABF8-61B24652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704088"/>
            <a:ext cx="2240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84ADFF"/>
                </a:solidFill>
                <a:latin typeface="Arial"/>
                <a:ea typeface="Arial"/>
                <a:cs typeface="Arial"/>
              </a:rPr>
              <a:t>PRODUCTIVITY &amp; SMART BUSINESS</a:t>
            </a:r>
            <a:endParaRPr sz="8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C7927C5-8A94-4131-AD0D-473399B3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508760"/>
            <a:ext cx="98755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PROOF2PAY AI</a:t>
            </a:r>
            <a:endParaRPr sz="3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CE393E6-D7EC-4FA6-AC2C-6777CFEC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331720"/>
            <a:ext cx="987552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00">
                <a:solidFill>
                  <a:srgbClr val="D0D5DD"/>
                </a:solidFill>
                <a:latin typeface="Arial"/>
                <a:ea typeface="Arial"/>
                <a:cs typeface="Arial"/>
              </a:rPr>
              <a:t>Agentic Job Completion &amp; Billing Readiness</a:t>
            </a:r>
            <a:endParaRPr sz="1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6AE602-E7E0-4FF9-BCBB-F391FDDF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337560"/>
            <a:ext cx="10241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00" b="1">
                <a:solidFill>
                  <a:srgbClr val="84ADFF"/>
                </a:solidFill>
                <a:latin typeface="Arial"/>
                <a:ea typeface="Arial"/>
                <a:cs typeface="Arial"/>
              </a:rPr>
              <a:t>Finish the job. Prove the job. Get paid.</a:t>
            </a:r>
            <a:endParaRPr sz="2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1BC8310-5F78-49A2-B865-16F03D6C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14800"/>
            <a:ext cx="8595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EAECF0"/>
                </a:solidFill>
                <a:latin typeface="Arial"/>
                <a:ea typeface="Arial"/>
                <a:cs typeface="Arial"/>
              </a:rPr>
              <a:t>An evidence-to-billing intelligence layer for B2B field-service teams.</a:t>
            </a:r>
            <a:endParaRPr sz="14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F633467-2DF7-4F60-BDA1-7DDCEB27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37760"/>
            <a:ext cx="3749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475467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E4AEB8E-122B-42D9-BE19-11F5C436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148072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 spc="130">
                <a:solidFill>
                  <a:srgbClr val="98A2B3"/>
                </a:solidFill>
                <a:latin typeface="Arial"/>
                <a:ea typeface="Arial"/>
                <a:cs typeface="Arial"/>
              </a:rPr>
              <a:t>HACKATHON MVP</a:t>
            </a:r>
            <a:endParaRPr sz="9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995FF45-9C39-4E74-A1EB-83746F78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422392"/>
            <a:ext cx="51206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IBM Bob + MCP + Langflow</a:t>
            </a:r>
            <a:endParaRPr sz="13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02E081E-AD56-42C7-8B11-5DBB6B05AC4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86032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279101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1E3A0B6-32A0-4124-869F-47EFB473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4747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 spc="150">
                <a:solidFill>
                  <a:srgbClr val="155EEF"/>
                </a:solidFill>
                <a:latin typeface="Arial"/>
                <a:ea typeface="Arial"/>
                <a:cs typeface="Arial"/>
              </a:rPr>
              <a:t>01 - THE PROBLEM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1CF82F5-6508-4359-A766-C8D0E9D5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85800"/>
            <a:ext cx="109728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job is complete. So why can't finance bill?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E059617-3BF0-482D-A9F6-1E4BB19A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71600"/>
            <a:ext cx="106984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667085"/>
                </a:solidFill>
                <a:latin typeface="Arial"/>
                <a:ea typeface="Arial"/>
                <a:cs typeface="Arial"/>
              </a:rPr>
              <a:t>Field completion and billing readiness are not always the same state.</a:t>
            </a:r>
            <a:endParaRPr sz="1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032CE2D-2AC5-4FF4-9FB2-DFD873A4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57400"/>
            <a:ext cx="3657600" cy="3246120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8FAF862-72A1-49AA-A5D5-238D6DF7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31720"/>
            <a:ext cx="804672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EAF2FF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C44541F-0039-4337-8774-37AF2D67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350008"/>
            <a:ext cx="6217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FIELD</a:t>
            </a:r>
            <a:endParaRPr sz="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50812BE-BD9B-42FE-AAA9-9759EC09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816352"/>
            <a:ext cx="3063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"Job selesai, Pak."</a:t>
            </a:r>
            <a:endParaRPr sz="2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328A113-A3C5-4FB2-B6FE-DDC35F06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456432"/>
            <a:ext cx="28346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667085"/>
                </a:solidFill>
                <a:latin typeface="Arial"/>
                <a:ea typeface="Arial"/>
                <a:cs typeface="Arial"/>
              </a:rPr>
              <a:t>Technician sends short notes, photos, and attachments after service.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1534103-E004-453C-8807-99CB1DE0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709160"/>
            <a:ext cx="1481328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2700">
            <a:solidFill>
              <a:srgbClr val="ECFDF3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445911E-EBCF-44FB-83F0-2C483D16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727448"/>
            <a:ext cx="129844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027A48"/>
                </a:solidFill>
                <a:latin typeface="Arial"/>
                <a:ea typeface="Arial"/>
                <a:cs typeface="Arial"/>
              </a:rPr>
              <a:t>REPORTED COMPLETE</a:t>
            </a:r>
            <a:endParaRPr sz="8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7928A55-9C5E-441B-A5C3-0F05704F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057400"/>
            <a:ext cx="3063240" cy="3246120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12700">
            <a:solidFill>
              <a:srgbClr val="FEDF89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D9A2E4E-3C9D-4974-83FE-74FB3C28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59152"/>
            <a:ext cx="2560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B54708"/>
                </a:solidFill>
                <a:latin typeface="Arial"/>
                <a:ea typeface="Arial"/>
                <a:cs typeface="Arial"/>
              </a:rPr>
              <a:t>The handoff gap</a:t>
            </a:r>
            <a:endParaRPr sz="17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9A867C6-D7CA-446A-85D1-F57CC32E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90088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D603E49-47A8-481D-B31D-EB6F563A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192" y="2880360"/>
            <a:ext cx="225856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344054"/>
                </a:solidFill>
                <a:latin typeface="Arial"/>
                <a:ea typeface="Arial"/>
                <a:cs typeface="Arial"/>
              </a:rPr>
              <a:t>Customer sign-off missing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FA5D105-AABD-4BA2-BEDD-5117B8B3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6616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FE4D182-D50A-4912-B9DD-BDBE0054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192" y="3456432"/>
            <a:ext cx="225856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344054"/>
                </a:solidFill>
                <a:latin typeface="Arial"/>
                <a:ea typeface="Arial"/>
                <a:cs typeface="Arial"/>
              </a:rPr>
              <a:t>Test evidence ambiguous</a:t>
            </a:r>
            <a:endParaRPr sz="12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01D75B64-A443-4DF3-9884-E5D46B0F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142232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14036E6-CC1C-448A-B36C-451BF88A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192" y="4032504"/>
            <a:ext cx="225856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344054"/>
                </a:solidFill>
                <a:latin typeface="Arial"/>
                <a:ea typeface="Arial"/>
                <a:cs typeface="Arial"/>
              </a:rPr>
              <a:t>Service report not ready</a:t>
            </a:r>
            <a:endParaRPr sz="12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2B57D51-FF72-4205-BE59-B1962864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71830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9B2145D-7ECD-4535-BBC0-6DEF14A6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192" y="4608576"/>
            <a:ext cx="225856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344054"/>
                </a:solidFill>
                <a:latin typeface="Arial"/>
                <a:ea typeface="Arial"/>
                <a:cs typeface="Arial"/>
              </a:rPr>
              <a:t>Admin must chase people/files</a:t>
            </a:r>
            <a:endParaRPr sz="12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56853E6-CE9E-40ED-BCDF-BBA6FCC0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2057400"/>
            <a:ext cx="3703320" cy="3246120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FFF5F4"/>
          </a:solidFill>
          <a:ln xmlns:a="http://schemas.openxmlformats.org/drawingml/2006/main" w="12700">
            <a:solidFill>
              <a:srgbClr val="FECDCA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4DA45B5-7DBC-4474-8EB9-540A615A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2331720"/>
            <a:ext cx="932688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5F4"/>
          </a:solidFill>
          <a:ln xmlns:a="http://schemas.openxmlformats.org/drawingml/2006/main" w="12700">
            <a:solidFill>
              <a:srgbClr val="FFF5F4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BF56434-200D-4D13-8C50-9E630232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2350008"/>
            <a:ext cx="7498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FINANCE</a:t>
            </a:r>
            <a:endParaRPr sz="8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E9AE889-1FFA-4B93-8DB7-9360E429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2834640"/>
            <a:ext cx="2880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0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Not billing-ready</a:t>
            </a:r>
            <a:endParaRPr sz="22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35C482F-C723-4D94-A230-28705ADA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3456432"/>
            <a:ext cx="283464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problem is not whether the technician is done. The problem is whether the completed work can be proven.</a:t>
            </a:r>
            <a:endParaRPr sz="14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C76328F-24C1-49CA-A75E-FFF3B647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4800600"/>
            <a:ext cx="28346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Finished != Billable</a:t>
            </a:r>
            <a:endParaRPr sz="1500"/>
          </a:p>
        </p:txBody>
      </p:sp>
      <p:sp>
        <p:nvSpPr>
          <p:cNvPr id="28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70C20CE-C6DC-4373-AC0A-E1E437B56BF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86032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067512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74167E7-032D-4EA9-B0B7-6C87B95D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4747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 spc="150">
                <a:solidFill>
                  <a:srgbClr val="155EEF"/>
                </a:solidFill>
                <a:latin typeface="Arial"/>
                <a:ea typeface="Arial"/>
                <a:cs typeface="Arial"/>
              </a:rPr>
              <a:t>02 - PROBLEM ANATOMY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DB304F3-9F9D-4967-992A-E151E226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85800"/>
            <a:ext cx="109728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Evidence is scattered. Readiness is unclear. Follow-up is manual.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7C1A570-88CC-4195-95ED-C42B6F6A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38528"/>
            <a:ext cx="5166360" cy="1481328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024A14E-8C50-426D-806D-4838D8ED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194560"/>
            <a:ext cx="384048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EAF2FF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0A620AC-B9AF-469B-B190-5D1952F3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212848"/>
            <a:ext cx="20116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1</a:t>
            </a:r>
            <a:endParaRPr sz="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3FAE56C-7D9D-4E64-B0A2-5B6F8E6C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67128"/>
            <a:ext cx="3977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Fragmented evidence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FC617A8-6A0B-469A-920F-2CE0BF30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96896"/>
            <a:ext cx="397764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667085"/>
                </a:solidFill>
                <a:latin typeface="Arial"/>
                <a:ea typeface="Arial"/>
                <a:cs typeface="Arial"/>
              </a:rPr>
              <a:t>Notes, photos, checklists, files, readings, signatures and reports can live in different places.</a:t>
            </a:r>
            <a:endParaRPr sz="10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0990C0A-73B8-4077-B74D-99B2C2BC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938528"/>
            <a:ext cx="5166360" cy="1481328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CFEEE83-2CDE-4235-A891-F9481340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194560"/>
            <a:ext cx="384048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EAF2FF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78B7FB9-684D-4A7B-A6A7-3179FC0A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212848"/>
            <a:ext cx="20116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2</a:t>
            </a:r>
            <a:endParaRPr sz="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2039546-1DC0-4106-A295-0F54CF30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167128"/>
            <a:ext cx="3977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Unsupported claims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3A93D2D-913F-4E8E-8AC9-A9F5E0DB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596896"/>
            <a:ext cx="397764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667085"/>
                </a:solidFill>
                <a:latin typeface="Arial"/>
                <a:ea typeface="Arial"/>
                <a:cs typeface="Arial"/>
              </a:rPr>
              <a:t>"Tested" in a technician note does not automatically prove a critical acceptance requirement.</a:t>
            </a:r>
            <a:endParaRPr sz="10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6FED7C6-7914-41D5-96E5-547095C8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13048"/>
            <a:ext cx="5166360" cy="1481328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70A9B7A-166C-4700-80CD-61F7CFCE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69080"/>
            <a:ext cx="384048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EAF2FF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AE0FF98-DD66-4F73-8902-F85F6EFC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087368"/>
            <a:ext cx="20116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3</a:t>
            </a:r>
            <a:endParaRPr sz="8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2C7EE95-BC69-4844-90EE-1CD7AF9F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41648"/>
            <a:ext cx="3977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Manual reconciliation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528E393-D0EE-4326-AA85-A120086F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71416"/>
            <a:ext cx="397764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667085"/>
                </a:solidFill>
                <a:latin typeface="Arial"/>
                <a:ea typeface="Arial"/>
                <a:cs typeface="Arial"/>
              </a:rPr>
              <a:t>Someone must compare requirements with evidence and decide what is still missing.</a:t>
            </a:r>
            <a:endParaRPr sz="10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08484DB1-FB8C-4783-A338-3B4A51AA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813048"/>
            <a:ext cx="5166360" cy="1481328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1324F04F-665B-41B2-9EFD-2D8C5843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4069080"/>
            <a:ext cx="384048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EAF2FF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25A0927-475D-45F5-A25F-B8DEF58E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087368"/>
            <a:ext cx="20116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4</a:t>
            </a:r>
            <a:endParaRPr sz="8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A19DEFD-60A9-4FE1-B505-A076A887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041648"/>
            <a:ext cx="3977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Manual chasing</a:t>
            </a:r>
            <a:endParaRPr sz="15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B7EC6DC-85B6-4AFC-8366-AF87B7D4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471416"/>
            <a:ext cx="397764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667085"/>
                </a:solidFill>
                <a:latin typeface="Arial"/>
                <a:ea typeface="Arial"/>
                <a:cs typeface="Arial"/>
              </a:rPr>
              <a:t>Operations follows up with technicians/customers, then re-checks the case before billing.</a:t>
            </a:r>
            <a:endParaRPr sz="10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4DC1B25-C82E-4481-AB46-CB7F0B9B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742432"/>
            <a:ext cx="2194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 spc="110">
                <a:solidFill>
                  <a:srgbClr val="155EEF"/>
                </a:solidFill>
                <a:latin typeface="Arial"/>
                <a:ea typeface="Arial"/>
                <a:cs typeface="Arial"/>
              </a:rPr>
              <a:t>Product opportunity</a:t>
            </a:r>
            <a:endParaRPr sz="10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8FB58D4-D14A-4B96-8F9C-5A3E7F2A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5669280"/>
            <a:ext cx="88696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Turn a completed job into a traceable evidence decision - then resolve the gaps.</a:t>
            </a:r>
            <a:endParaRPr sz="1800"/>
          </a:p>
        </p:txBody>
      </p:sp>
      <p:sp>
        <p:nvSpPr>
          <p:cNvPr id="26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8E951E8-E32A-4191-B2B9-70AC16744F5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86032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554891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1851817-ADCF-4FB0-B35F-3CEC43A4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4747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 spc="150">
                <a:solidFill>
                  <a:srgbClr val="155EEF"/>
                </a:solidFill>
                <a:latin typeface="Arial"/>
                <a:ea typeface="Arial"/>
                <a:cs typeface="Arial"/>
              </a:rPr>
              <a:t>03 - VALIDATION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EF7B626-30CD-41C2-AA82-FAC38587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85800"/>
            <a:ext cx="109728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Published evidence for the workflow problem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0E85655-3DD1-4686-B1BC-1CE62E26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71600"/>
            <a:ext cx="106984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667085"/>
                </a:solidFill>
                <a:latin typeface="Arial"/>
                <a:ea typeface="Arial"/>
                <a:cs typeface="Arial"/>
              </a:rPr>
              <a:t>Indonesian AC-service cases document paper records and repeated manual checking.</a:t>
            </a:r>
            <a:endParaRPr sz="1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CDF75BC-3618-4793-8441-6FC9F0E6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10972800" cy="841248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B2CB75B-BFBA-4D28-83E7-BD9CAE06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194560"/>
            <a:ext cx="150876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2700">
            <a:solidFill>
              <a:srgbClr val="F2F4F7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164E0E7-C65E-48DA-B2FD-67F73C4D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212848"/>
            <a:ext cx="1325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CATEGORY EVIDENCE</a:t>
            </a:r>
            <a:endParaRPr sz="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2BFCAB6-FE69-462C-892E-B41E0883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2112264"/>
            <a:ext cx="1828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ServiceTitan</a:t>
            </a:r>
            <a:endParaRPr sz="1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1729565-4C8E-4695-A610-858F5F68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84832"/>
            <a:ext cx="667512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20">
                <a:solidFill>
                  <a:srgbClr val="344054"/>
                </a:solidFill>
                <a:latin typeface="Arial"/>
                <a:ea typeface="Arial"/>
                <a:cs typeface="Arial"/>
              </a:rPr>
              <a:t>Forms can capture signatures, checklists, photos and PDFs; closeout can include required documentation.</a:t>
            </a:r>
            <a:endParaRPr sz="102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50062DB-10B5-4C6B-8050-1E6124BA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044952"/>
            <a:ext cx="10972800" cy="841248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CC0DA5C-E7E9-4E53-B023-A9A154CD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273552"/>
            <a:ext cx="150876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2700">
            <a:solidFill>
              <a:srgbClr val="F2F4F7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EE16568-E3E1-445E-B4BA-6144588B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291840"/>
            <a:ext cx="1325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STATE EVIDENCE</a:t>
            </a:r>
            <a:endParaRPr sz="8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7BFB4D6-ACD9-431D-B9F6-C701C1B7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3191256"/>
            <a:ext cx="1828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ServiceM8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053BAB5-5136-4F19-8E61-6D2A160E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63824"/>
            <a:ext cx="667512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20">
                <a:solidFill>
                  <a:srgbClr val="344054"/>
                </a:solidFill>
                <a:latin typeface="Arial"/>
                <a:ea typeface="Arial"/>
                <a:cs typeface="Arial"/>
              </a:rPr>
              <a:t>Completed jobs can enter an Awaiting Approval stage before invoice approval/sync.</a:t>
            </a:r>
            <a:endParaRPr sz="102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DDB7C908-121B-43EA-93AD-2B6CD816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23944"/>
            <a:ext cx="10972800" cy="841248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E771F7A-6599-49EE-AE1B-DA2BBF75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352544"/>
            <a:ext cx="150876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2700">
            <a:solidFill>
              <a:srgbClr val="F2F4F7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4592BC9-4734-48A6-A951-9F3057A4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370832"/>
            <a:ext cx="1325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LOCAL STUDIES</a:t>
            </a:r>
            <a:endParaRPr sz="8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D7DD2DB-3E9E-4CCF-BDFE-DB5F1123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4270248"/>
            <a:ext cx="1828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Local AC service</a:t>
            </a:r>
            <a:endParaRPr sz="13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3976483-4309-4677-989A-6C00DE98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42816"/>
            <a:ext cx="667512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20">
                <a:solidFill>
                  <a:srgbClr val="344054"/>
                </a:solidFill>
                <a:latin typeface="Arial"/>
                <a:ea typeface="Arial"/>
                <a:cs typeface="Arial"/>
              </a:rPr>
              <a:t>Published cases report handwritten logs, misplaced receipts, and repeated administrative checks.</a:t>
            </a:r>
            <a:endParaRPr sz="102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595A52F-DEBA-470D-A4C3-D0E323D5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440680"/>
            <a:ext cx="10972800" cy="50292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12700">
            <a:solidFill>
              <a:srgbClr val="FEDF89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98F49BF-7891-4CB6-AE61-D2FB4A59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559552"/>
            <a:ext cx="10287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B54708"/>
                </a:solidFill>
                <a:latin typeface="Arial"/>
                <a:ea typeface="Arial"/>
                <a:cs typeface="Arial"/>
              </a:rPr>
              <a:t>Still unvalidated: prevalence, average delay, willingness-to-pay, and best first vertical in Indonesian SMEs.</a:t>
            </a:r>
            <a:endParaRPr sz="10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7EB309A-5E4C-4828-B568-5C15A962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44768"/>
            <a:ext cx="10881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680">
                <a:solidFill>
                  <a:srgbClr val="667085"/>
                </a:solidFill>
                <a:latin typeface="Arial"/>
                <a:ea typeface="Arial"/>
                <a:cs typeface="Arial"/>
              </a:rPr>
              <a:t>Sources: ServiceTitan, ServiceM8, UNAMA, BSI and UKDW repositories. Accessed 28 Sep 2026.</a:t>
            </a:r>
            <a:endParaRPr sz="68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1DE29E7-7305-4525-B810-9D5394C4D77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86032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57269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F3AE387-CD0F-45F9-8458-2CFDB0EB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4747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 spc="150">
                <a:solidFill>
                  <a:srgbClr val="155EEF"/>
                </a:solidFill>
                <a:latin typeface="Arial"/>
                <a:ea typeface="Arial"/>
                <a:cs typeface="Arial"/>
              </a:rPr>
              <a:t>04 - THE PRODUCT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68A65B1-839E-4864-A147-CABBE529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85800"/>
            <a:ext cx="109728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PROOF2PAY is an Evidence-to-Billing Intelligence Layer.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718DC95-6395-4EEB-9C8A-22C51E4E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71600"/>
            <a:ext cx="106984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667085"/>
                </a:solidFill>
                <a:latin typeface="Arial"/>
                <a:ea typeface="Arial"/>
                <a:cs typeface="Arial"/>
              </a:rPr>
              <a:t>It does not replace dispatch, CRM, FSM, ERP, accounting, or payment rails.</a:t>
            </a:r>
            <a:endParaRPr sz="1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507E433-4D9F-4430-8192-E2ABB642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148840"/>
            <a:ext cx="1938528" cy="2404872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30C9E38-94BB-4CC0-8F72-65E7C77F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377440"/>
            <a:ext cx="402336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12700">
            <a:solidFill>
              <a:srgbClr val="101828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64E51AD-E6CF-4559-BDF0-4433D9AF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395728"/>
            <a:ext cx="21945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  <a:endParaRPr sz="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8BCFFD3-426E-4AA9-B59F-F6F90544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926080"/>
            <a:ext cx="15087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Guarded AI Review</a:t>
            </a:r>
            <a:endParaRPr sz="1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2BBD63A-60BA-4C56-B5FC-5EEA07AD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3685032"/>
            <a:ext cx="150876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667085"/>
                </a:solidFill>
                <a:latin typeface="Arial"/>
                <a:ea typeface="Arial"/>
                <a:cs typeface="Arial"/>
              </a:rPr>
              <a:t>Granite calls the review tool</a:t>
            </a:r>
            <a:endParaRPr sz="9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E97D0DC-EC5F-4F22-841B-59EE8987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3246120"/>
            <a:ext cx="182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&gt;</a:t>
            </a:r>
            <a:endParaRPr sz="18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3570BAD-D744-4BC0-B466-7939249C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2148840"/>
            <a:ext cx="1938528" cy="2404872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84ADFF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E8B3635-8E47-49CE-A57B-ED8A2DDE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377440"/>
            <a:ext cx="402336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12700">
            <a:solidFill>
              <a:srgbClr val="101828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9A33901-5E9B-4730-9CAB-45FE544D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395728"/>
            <a:ext cx="21945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  <a:endParaRPr sz="8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A309A33-14C8-4254-A376-67DCF21C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926080"/>
            <a:ext cx="15087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Evidence Map</a:t>
            </a:r>
            <a:endParaRPr sz="13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F841B69-08FF-4A49-8CDE-4FD9C2A1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685032"/>
            <a:ext cx="150876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667085"/>
                </a:solidFill>
                <a:latin typeface="Arial"/>
                <a:ea typeface="Arial"/>
                <a:cs typeface="Arial"/>
              </a:rPr>
              <a:t>What was required vs what exists</a:t>
            </a:r>
            <a:endParaRPr sz="9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79AAC57-77F2-4103-ADC7-1713E71C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46120"/>
            <a:ext cx="182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&gt;</a:t>
            </a:r>
            <a:endParaRPr sz="18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8C6506A-AA1C-4158-B361-802B9738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344" y="2148840"/>
            <a:ext cx="1938528" cy="2404872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B5F5457-2E1B-4A62-9DB7-92F492CC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2377440"/>
            <a:ext cx="402336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12700">
            <a:solidFill>
              <a:srgbClr val="101828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5017954-6286-4CF1-8D43-ADAFD6E6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2395728"/>
            <a:ext cx="21945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  <a:endParaRPr sz="8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019F6E2-F105-46E2-8D2D-3F68F400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2926080"/>
            <a:ext cx="15087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Billing Readiness Engine</a:t>
            </a:r>
            <a:endParaRPr sz="13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D5C109C-EA07-4B17-BCE7-0AC48719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3685032"/>
            <a:ext cx="150876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667085"/>
                </a:solidFill>
                <a:latin typeface="Arial"/>
                <a:ea typeface="Arial"/>
                <a:cs typeface="Arial"/>
              </a:rPr>
              <a:t>Explain blockers with rules</a:t>
            </a:r>
            <a:endParaRPr sz="9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64BDBDD-AD17-48F6-A875-14DCFEFD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3246120"/>
            <a:ext cx="182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&gt;</a:t>
            </a:r>
            <a:endParaRPr sz="18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B1588179-81C2-43EE-9413-8F58D71A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336" y="2148840"/>
            <a:ext cx="1938528" cy="2404872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AE4481B3-D419-479F-BAF9-39BD69ED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2377440"/>
            <a:ext cx="402336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12700">
            <a:solidFill>
              <a:srgbClr val="101828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5F87E0BB-F889-4879-AE2A-2C0DFA36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944" y="2395728"/>
            <a:ext cx="21945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  <a:endParaRPr sz="8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38CE814C-A643-4EFC-B7A8-B935E966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2926080"/>
            <a:ext cx="15087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Evidence Gap Guidance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B7C898A-1FA8-4830-A564-0B0DB8B4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3685032"/>
            <a:ext cx="150876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667085"/>
                </a:solidFill>
                <a:latin typeface="Arial"/>
                <a:ea typeface="Arial"/>
                <a:cs typeface="Arial"/>
              </a:rPr>
              <a:t>Name the next evidence step</a:t>
            </a:r>
            <a:endParaRPr sz="9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3BDEE32-A6CD-4B38-9D1F-7881494B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3246120"/>
            <a:ext cx="182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&gt;</a:t>
            </a:r>
            <a:endParaRPr sz="18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9AFEB091-7AD1-45B2-94FF-45A4D9CE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328" y="2148840"/>
            <a:ext cx="1938528" cy="2404872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B01B0072-E8F8-4C4C-8968-7DC91255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3496" y="2377440"/>
            <a:ext cx="402336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12700">
            <a:solidFill>
              <a:srgbClr val="101828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063A165-D680-4660-AE24-4E308C92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4936" y="2395728"/>
            <a:ext cx="21945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  <a:endParaRPr sz="8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1DDB0EA-B360-47A6-82A8-EEC416F5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3496" y="2926080"/>
            <a:ext cx="15087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Completion Pack</a:t>
            </a:r>
            <a:endParaRPr sz="13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2E4A4BD1-BF6E-4402-9566-8A8D8351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3496" y="3685032"/>
            <a:ext cx="150876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667085"/>
                </a:solidFill>
                <a:latin typeface="Arial"/>
                <a:ea typeface="Arial"/>
                <a:cs typeface="Arial"/>
              </a:rPr>
              <a:t>Human-approved evidence package</a:t>
            </a:r>
            <a:endParaRPr sz="95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4B8A314B-0099-41C2-89ED-AF7173C8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148072"/>
            <a:ext cx="1280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 spc="100">
                <a:solidFill>
                  <a:srgbClr val="155EEF"/>
                </a:solidFill>
                <a:latin typeface="Arial"/>
                <a:ea typeface="Arial"/>
                <a:cs typeface="Arial"/>
              </a:rPr>
              <a:t>Core promise</a:t>
            </a:r>
            <a:endParaRPr sz="10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3D0C2653-EB61-4DBF-B7DC-DB5240DA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486400"/>
            <a:ext cx="10698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What was required? What proof exists? What blocks billing? What should happen next?</a:t>
            </a:r>
            <a:endParaRPr sz="1800"/>
          </a:p>
        </p:txBody>
      </p:sp>
      <p:sp>
        <p:nvSpPr>
          <p:cNvPr id="36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A9F86E8-34EE-479C-AB6A-4C189F802D5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86032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305398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9DE2815-2677-4CE7-97F3-75D62C72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4747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 spc="150">
                <a:solidFill>
                  <a:srgbClr val="155EEF"/>
                </a:solidFill>
                <a:latin typeface="Arial"/>
                <a:ea typeface="Arial"/>
                <a:cs typeface="Arial"/>
              </a:rPr>
              <a:t>05 - GOLDEN DEMO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74DC34B-0322-4643-948E-6BF2DFF4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85800"/>
            <a:ext cx="109728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WO-1028: reported complete, but still blocked.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1C525CA-2163-4D43-BB33-B3E4251A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71600"/>
            <a:ext cx="106984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667085"/>
                </a:solidFill>
                <a:latin typeface="Arial"/>
                <a:ea typeface="Arial"/>
                <a:cs typeface="Arial"/>
              </a:rPr>
              <a:t>Synthetic HVAC preventive-maintenance case.</a:t>
            </a:r>
            <a:endParaRPr sz="1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66E79DD-FA99-43AC-AF2C-71F05E8E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874520"/>
            <a:ext cx="10972800" cy="749808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9CF90B9-25BA-4192-ADC7-821B7D0F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057400"/>
            <a:ext cx="502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JOB</a:t>
            </a:r>
            <a:endParaRPr sz="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1A867BF-81FE-4524-AB7E-264EC9DB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984248"/>
            <a:ext cx="1371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WO-1028</a:t>
            </a:r>
            <a:endParaRPr sz="1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82AB62B-A741-405C-AB2C-6DA23964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2057400"/>
            <a:ext cx="822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FIELD STATUS</a:t>
            </a:r>
            <a:endParaRPr sz="8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FF71BB7-ECCD-42F6-AA6A-55920331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2002536"/>
            <a:ext cx="150876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2700">
            <a:solidFill>
              <a:srgbClr val="ECFDF3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EFA8E05-028D-434E-8883-4BC81EE0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2020824"/>
            <a:ext cx="1325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027A48"/>
                </a:solidFill>
                <a:latin typeface="Arial"/>
                <a:ea typeface="Arial"/>
                <a:cs typeface="Arial"/>
              </a:rPr>
              <a:t>REPORTED COMPLETE</a:t>
            </a:r>
            <a:endParaRPr sz="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4BF42F3-7F80-46A4-84D4-52D66A9A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057400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BILLING READINESS</a:t>
            </a:r>
            <a:endParaRPr sz="8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49EE45D-48CF-4B11-A0B7-0A1377F4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2" y="2002536"/>
            <a:ext cx="86868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5F4"/>
          </a:solidFill>
          <a:ln xmlns:a="http://schemas.openxmlformats.org/drawingml/2006/main" w="12700">
            <a:solidFill>
              <a:srgbClr val="FFF5F4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AA9A497-7E05-41ED-BE50-8BC77883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2020824"/>
            <a:ext cx="685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BLOCKED</a:t>
            </a:r>
            <a:endParaRPr sz="8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33A3E71-7F62-402D-A443-2F6C853A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057400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977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REQUIREMENTS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A7BF357-D47B-4378-B79D-85B0695C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975104"/>
            <a:ext cx="7315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1 / 4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193670C-21A7-4B74-91FF-1F5A4B99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2039112"/>
            <a:ext cx="868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00">
                <a:solidFill>
                  <a:srgbClr val="667085"/>
                </a:solidFill>
                <a:latin typeface="Arial"/>
                <a:ea typeface="Arial"/>
                <a:cs typeface="Arial"/>
              </a:rPr>
              <a:t>3 critical gaps remain</a:t>
            </a:r>
            <a:endParaRPr sz="7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17A41A2C-0916-4DD2-B7FE-4B8087A6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880360"/>
            <a:ext cx="10972800" cy="749808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5F4"/>
          </a:solidFill>
          <a:ln xmlns:a="http://schemas.openxmlformats.org/drawingml/2006/main" w="12700">
            <a:solidFill>
              <a:srgbClr val="FECDCA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BD30F9C7-A7D2-4761-B7BE-F7B17184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099816"/>
            <a:ext cx="1078992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5F4"/>
          </a:solidFill>
          <a:ln xmlns:a="http://schemas.openxmlformats.org/drawingml/2006/main" w="12700">
            <a:solidFill>
              <a:srgbClr val="FFF5F4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D30A7C3-4565-423C-B3B6-D99D8AA2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118104"/>
            <a:ext cx="8961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MISSING</a:t>
            </a:r>
            <a:endParaRPr sz="8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F489317-2C5E-4A0C-A7A7-42DF048E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3008376"/>
            <a:ext cx="3246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Customer completion acknowledgement</a:t>
            </a:r>
            <a:endParaRPr sz="13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C7A8439-2D83-4CD4-829B-C88C84B2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2990088"/>
            <a:ext cx="5623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344054"/>
                </a:solidFill>
                <a:latin typeface="Arial"/>
                <a:ea typeface="Arial"/>
                <a:cs typeface="Arial"/>
              </a:rPr>
              <a:t>Expected signed/recorded acceptance; no evidence found.</a:t>
            </a:r>
            <a:endParaRPr sz="9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D787014F-4398-42C7-AD8E-345BA54F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0"/>
            <a:ext cx="10972800" cy="749808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12700">
            <a:solidFill>
              <a:srgbClr val="FEDF89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E7FD97A5-15B8-447D-B08D-FF5E58DF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059936"/>
            <a:ext cx="1078992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12700">
            <a:solidFill>
              <a:srgbClr val="FFFAEB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1D8114F-A821-408B-8C73-9C433D2D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078224"/>
            <a:ext cx="8961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B54708"/>
                </a:solidFill>
                <a:latin typeface="Arial"/>
                <a:ea typeface="Arial"/>
                <a:cs typeface="Arial"/>
              </a:rPr>
              <a:t>AMBIGUOUS</a:t>
            </a:r>
            <a:endParaRPr sz="8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30DA78C-E8D0-4E00-87EB-DD071C84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3968496"/>
            <a:ext cx="3246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Post-service cooling performance</a:t>
            </a:r>
            <a:endParaRPr sz="13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54C9948-C3FE-46C1-A6D3-D3F11FC9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950208"/>
            <a:ext cx="5623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344054"/>
                </a:solidFill>
                <a:latin typeface="Arial"/>
                <a:ea typeface="Arial"/>
                <a:cs typeface="Arial"/>
              </a:rPr>
              <a:t>Technician claim exists; measurable supporting result is not linked.</a:t>
            </a:r>
            <a:endParaRPr sz="9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59B9E526-A3B3-4D38-AF96-9510C21A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800600"/>
            <a:ext cx="10972800" cy="749808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5F4"/>
          </a:solidFill>
          <a:ln xmlns:a="http://schemas.openxmlformats.org/drawingml/2006/main" w="12700">
            <a:solidFill>
              <a:srgbClr val="FECDCA"/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45B25450-6A03-44FE-B038-E19F423F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020056"/>
            <a:ext cx="1078992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5F4"/>
          </a:solidFill>
          <a:ln xmlns:a="http://schemas.openxmlformats.org/drawingml/2006/main" w="12700">
            <a:solidFill>
              <a:srgbClr val="FFF5F4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F47B9C6-CB26-448C-99F9-6979BF97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038344"/>
            <a:ext cx="8961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MISSING</a:t>
            </a:r>
            <a:endParaRPr sz="8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0575AAA-F8F8-44F2-A471-9A25C70E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4928616"/>
            <a:ext cx="3246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Final service report</a:t>
            </a:r>
            <a:endParaRPr sz="13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1FED704-3177-4F87-AADB-F93B06E1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4910328"/>
            <a:ext cx="5623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344054"/>
                </a:solidFill>
                <a:latin typeface="Arial"/>
                <a:ea typeface="Arial"/>
                <a:cs typeface="Arial"/>
              </a:rPr>
              <a:t>Generate draft only after verified facts and approval.</a:t>
            </a:r>
            <a:endParaRPr sz="9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C37D2617-04BC-4EBB-97B0-589DFDC3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925312"/>
            <a:ext cx="10515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Synthetic evidence is labelled. Missing items stay blocked until a person reviews the pack.</a:t>
            </a:r>
            <a:endParaRPr sz="1300"/>
          </a:p>
        </p:txBody>
      </p:sp>
      <p:sp>
        <p:nvSpPr>
          <p:cNvPr id="33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9202E27-1DD9-45AD-8850-E737671C095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86032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8151394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B00BC9E-CD6F-452A-BB3F-5B58A2C5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4747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 spc="150">
                <a:solidFill>
                  <a:srgbClr val="155EEF"/>
                </a:solidFill>
                <a:latin typeface="Arial"/>
                <a:ea typeface="Arial"/>
                <a:cs typeface="Arial"/>
              </a:rPr>
              <a:t>06 - WHAT MAKES IT DIFFERENT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BF603B3-F977-44AA-9688-6AD71357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85800"/>
            <a:ext cx="109728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Reason over evidence - not just collect files.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D0955FD-D891-4B64-AC93-9D4A0535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657600" cy="3520440"/>
          </a:xfrm>
          <a:prstGeom xmlns:a="http://schemas.openxmlformats.org/drawingml/2006/main" prst="roundRect">
            <a:avLst>
              <a:gd name="adj" fmla="val 31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6490F92-9550-435A-A491-94157B9D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8600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Requirement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BAA7185-6351-4EF0-B3A7-083C9BB0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70048"/>
            <a:ext cx="2926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Customer completion acknowledgement</a:t>
            </a:r>
            <a:endParaRPr sz="17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FE2786D-03E0-4618-8052-E86F8D7C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37560"/>
            <a:ext cx="1005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Source</a:t>
            </a:r>
            <a:endParaRPr sz="9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E468445-5602-4854-BDAD-08E030E6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84448"/>
            <a:ext cx="2468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344054"/>
                </a:solidFill>
                <a:latin typeface="Arial"/>
                <a:ea typeface="Arial"/>
                <a:cs typeface="Arial"/>
              </a:rPr>
              <a:t>SOW-1028#acceptance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801C14D-3A8F-4026-992F-436C4FE3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96512"/>
            <a:ext cx="1280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Expected evidence</a:t>
            </a:r>
            <a:endParaRPr sz="9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97FA581-50A4-4C08-A897-00D4C71E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343400"/>
            <a:ext cx="26517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344054"/>
                </a:solidFill>
                <a:latin typeface="Arial"/>
                <a:ea typeface="Arial"/>
                <a:cs typeface="Arial"/>
              </a:rPr>
              <a:t>Recorded customer acknowledgement</a:t>
            </a:r>
            <a:endParaRPr sz="1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6B85712-5474-4898-B439-CD3C56E3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02152"/>
            <a:ext cx="365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&gt;</a:t>
            </a:r>
            <a:endParaRPr sz="24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FA14D2F-5BD5-4115-9EC2-29074624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965960"/>
            <a:ext cx="2743200" cy="35204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5F4"/>
          </a:solidFill>
          <a:ln xmlns:a="http://schemas.openxmlformats.org/drawingml/2006/main" w="12700">
            <a:solidFill>
              <a:srgbClr val="FECDCA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8554C3C-06F0-4FAA-AD11-B80EEF74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8600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Evidence found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B0C2583-7B66-456B-BC12-BFFFF996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52928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NONE</a:t>
            </a:r>
            <a:endParaRPr sz="2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C959E07-5F4E-4862-9C31-EFA609A0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9476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Status</a:t>
            </a:r>
            <a:endParaRPr sz="9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ABBAB36-6B43-430B-A1BA-CB0E81D4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69080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MISSING</a:t>
            </a:r>
            <a:endParaRPr sz="15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1776FF1-C5E5-4C98-83AF-A2228979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63440"/>
            <a:ext cx="2057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No proof -&gt; no final ready state.</a:t>
            </a:r>
            <a:endParaRPr sz="1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DC0B27C-432D-4931-9347-4EE1E079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2" y="3502152"/>
            <a:ext cx="365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&gt;</a:t>
            </a:r>
            <a:endParaRPr sz="24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3D752BA-238D-43D3-8676-2F482EE3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965960"/>
            <a:ext cx="3602736" cy="3520440"/>
          </a:xfrm>
          <a:prstGeom xmlns:a="http://schemas.openxmlformats.org/drawingml/2006/main" prst="roundRect">
            <a:avLst>
              <a:gd name="adj" fmla="val 3117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12700">
            <a:solidFill>
              <a:srgbClr val="FEDF89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D6CBAFA-9AF0-43E4-A0A0-6270E1B4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2286000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B54708"/>
                </a:solidFill>
                <a:latin typeface="Arial"/>
                <a:ea typeface="Arial"/>
                <a:cs typeface="Arial"/>
              </a:rPr>
              <a:t>Next demo action</a:t>
            </a:r>
            <a:endParaRPr sz="12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1F54DFF-60B0-4930-B055-E9D12B40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2834640"/>
            <a:ext cx="2834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705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Record customer acknowledgement</a:t>
            </a:r>
            <a:endParaRPr sz="17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34AF174-441F-4E04-889A-9392BD80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3730752"/>
            <a:ext cx="23774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344054"/>
                </a:solidFill>
                <a:latin typeface="Arial"/>
                <a:ea typeface="Arial"/>
                <a:cs typeface="Arial"/>
              </a:rPr>
              <a:t>Owner: Operations</a:t>
            </a:r>
            <a:endParaRPr sz="10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2663460-D92B-4186-88E7-9ABF9572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4050792"/>
            <a:ext cx="23774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344054"/>
                </a:solidFill>
                <a:latin typeface="Arial"/>
                <a:ea typeface="Arial"/>
                <a:cs typeface="Arial"/>
              </a:rPr>
              <a:t>No message sent by demo</a:t>
            </a:r>
            <a:endParaRPr sz="10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577C8761-7307-4ACD-86BF-3D60E774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4645152"/>
            <a:ext cx="224028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2700">
            <a:solidFill>
              <a:srgbClr val="FFF7E8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4E38BB7-34FD-4D51-AC42-4F1D1856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4663440"/>
            <a:ext cx="2057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B54708"/>
                </a:solidFill>
                <a:latin typeface="Arial"/>
                <a:ea typeface="Arial"/>
                <a:cs typeface="Arial"/>
              </a:rPr>
              <a:t>HUMAN APPROVAL FOR PACK</a:t>
            </a:r>
            <a:endParaRPr sz="800"/>
          </a:p>
        </p:txBody>
      </p:sp>
      <p:sp>
        <p:nvSpPr>
          <p:cNvPr id="26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B51180F-3978-4842-A5CA-4EC52C3AB23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86032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282074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A56B0E7-8B1C-41B2-9FB4-0C64BCA8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4747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 spc="150">
                <a:solidFill>
                  <a:srgbClr val="155EEF"/>
                </a:solidFill>
                <a:latin typeface="Arial"/>
                <a:ea typeface="Arial"/>
                <a:cs typeface="Arial"/>
              </a:rPr>
              <a:t>07 - TECHNICAL ARCHITECTURE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0D4018E-41C8-4282-BB7D-86C8488D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85800"/>
            <a:ext cx="109728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AI where useful. Rules where critical. Humans where consequential.</a:t>
            </a:r>
            <a:endParaRPr sz="2700"/>
          </a:p>
        </p:txBody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e67a0ffc434c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1874520"/>
            <a:ext cx="10927080" cy="3493008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A2977D47-DD4F-4425-9403-584D722B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86400"/>
            <a:ext cx="3337560" cy="50292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B2CCFF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B50D028-FA51-4A40-8EB8-9206C7C5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23560"/>
            <a:ext cx="29260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IBM Bob: MCP connection confirmed</a:t>
            </a:r>
            <a:endParaRPr sz="95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F3BB3FB-9BC9-4FC3-9A41-B232DEC5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5486400"/>
            <a:ext cx="3337560" cy="50292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E8F8F2"/>
          </a:solidFill>
          <a:ln xmlns:a="http://schemas.openxmlformats.org/drawingml/2006/main" w="12700">
            <a:solidFill>
              <a:srgbClr val="A6F4C5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281D61C-ECDF-4BEF-8280-5078D3F7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5623560"/>
            <a:ext cx="29260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>
                <a:solidFill>
                  <a:srgbClr val="027A48"/>
                </a:solidFill>
                <a:latin typeface="Arial"/>
                <a:ea typeface="Arial"/>
                <a:cs typeface="Arial"/>
              </a:rPr>
              <a:t>Langflow: reusable execution flows</a:t>
            </a:r>
            <a:endParaRPr sz="9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35FF22CE-1747-4D06-BEBF-CF0CAA69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5486400"/>
            <a:ext cx="3337560" cy="50292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2700">
            <a:solidFill>
              <a:srgbClr val="FEDF89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AD4CD27-4A1E-4BE6-8403-EA9A7F5A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5623560"/>
            <a:ext cx="288036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20" b="1">
                <a:solidFill>
                  <a:srgbClr val="B54708"/>
                </a:solidFill>
                <a:latin typeface="Arial"/>
                <a:ea typeface="Arial"/>
                <a:cs typeface="Arial"/>
              </a:rPr>
              <a:t>Human: approval for consequential actions</a:t>
            </a:r>
            <a:endParaRPr sz="92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E59E273-CDB7-47AE-A165-5243229D5A6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86032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208273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6F956C6-BA58-42E5-B84E-BD6E6EDF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4747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 spc="150">
                <a:solidFill>
                  <a:srgbClr val="155EEF"/>
                </a:solidFill>
                <a:latin typeface="Arial"/>
                <a:ea typeface="Arial"/>
                <a:cs typeface="Arial"/>
              </a:rPr>
              <a:t>08 - AGENT WORKFLOW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0CCF488-4ECA-4A6B-ACC2-FF5DA560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85800"/>
            <a:ext cx="109728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Langflow MCP tools are connected. Bob calls await verification.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D1480F5-7C1A-40E0-89FC-7595662D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56232"/>
            <a:ext cx="10149840" cy="493776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2700">
            <a:solidFill>
              <a:srgbClr val="F2F4F7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F733342-C56F-4902-B2C8-8AEF901D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1947672"/>
            <a:ext cx="96012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2700">
            <a:solidFill>
              <a:srgbClr val="F2F4F7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F619971-C03E-470E-B6BF-72121445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1965960"/>
            <a:ext cx="777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USER</a:t>
            </a:r>
            <a:endParaRPr sz="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B19A0A7-BAEC-4AF0-A5B2-431D6D61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1938528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"Check whether WO-1028 is ready for billing."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E3AAB7D-C620-4F1D-8C52-840AED0A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331720"/>
            <a:ext cx="274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v</a:t>
            </a:r>
            <a:endParaRPr sz="10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579545E-3928-448D-9868-E9731BBE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14600"/>
            <a:ext cx="10149840" cy="493776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EAF2F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4B3025C-C695-47AE-8FC2-59D0ADE2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2606040"/>
            <a:ext cx="96012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EAF2FF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E87EABB-04A5-4EFB-A353-AD0124EE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2624328"/>
            <a:ext cx="777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IBM BOB</a:t>
            </a:r>
            <a:endParaRPr sz="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EB10C0F-688E-45F3-ABFF-EB67EF13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2596896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101828"/>
                </a:solidFill>
                <a:latin typeface="Arial"/>
                <a:ea typeface="Arial"/>
                <a:cs typeface="Arial"/>
              </a:rPr>
              <a:t>MCP connection confirmed; tool call unverified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146F926-A8A2-44D1-805B-003D420E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990088"/>
            <a:ext cx="274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v</a:t>
            </a:r>
            <a:endParaRPr sz="10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C7BD204-1E1F-4C09-8608-8FC553FC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172968"/>
            <a:ext cx="10149840" cy="493776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2700">
            <a:solidFill>
              <a:srgbClr val="EEF4FF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DA994137-5652-48DE-A3DD-2BE5B8CC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3264408"/>
            <a:ext cx="96012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2700">
            <a:solidFill>
              <a:srgbClr val="EEF4FF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9B736C0-7C28-4CAD-8B0D-93018D3B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3282696"/>
            <a:ext cx="777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MCP</a:t>
            </a:r>
            <a:endParaRPr sz="8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8AB43F7-A1A6-4507-965C-F812C335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3255264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101828"/>
                </a:solidFill>
                <a:latin typeface="Arial"/>
                <a:ea typeface="Arial"/>
                <a:cs typeface="Arial"/>
              </a:rPr>
              <a:t>tool name + JSON arguments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3340293-96D2-4F95-A022-F499CE98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648456"/>
            <a:ext cx="274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v</a:t>
            </a:r>
            <a:endParaRPr sz="10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80FB0CA-D003-42AE-B8FF-DD7A9A0B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31336"/>
            <a:ext cx="10149840" cy="493776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8F8F2"/>
          </a:solidFill>
          <a:ln xmlns:a="http://schemas.openxmlformats.org/drawingml/2006/main" w="12700">
            <a:solidFill>
              <a:srgbClr val="E8F8F2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6B11B4A-78C6-463F-B991-1371F043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3922776"/>
            <a:ext cx="96012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8F8F2"/>
          </a:solidFill>
          <a:ln xmlns:a="http://schemas.openxmlformats.org/drawingml/2006/main" w="12700">
            <a:solidFill>
              <a:srgbClr val="E8F8F2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A17E8BF-AD10-4521-BF6D-A036ADB0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3941064"/>
            <a:ext cx="777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027A48"/>
                </a:solidFill>
                <a:latin typeface="Arial"/>
                <a:ea typeface="Arial"/>
                <a:cs typeface="Arial"/>
              </a:rPr>
              <a:t>LANGFLOW</a:t>
            </a:r>
            <a:endParaRPr sz="8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5C667E4-4030-4C1F-A038-42B4B6C9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3913632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101828"/>
                </a:solidFill>
                <a:latin typeface="Arial"/>
                <a:ea typeface="Arial"/>
                <a:cs typeface="Arial"/>
              </a:rPr>
              <a:t>Source fields -&gt; transparent rules -&gt; JSON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F69F347-0E79-43CE-ACF6-02A298BF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4306824"/>
            <a:ext cx="274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v</a:t>
            </a:r>
            <a:endParaRPr sz="10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A152DDF-9A36-42E5-96A8-5A6204FC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489704"/>
            <a:ext cx="10149840" cy="493776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EAF2FF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8C212B99-BA7A-4398-B42C-17AE7BA3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4581144"/>
            <a:ext cx="96012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EAF2FF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3C2FC3F9-D701-442C-9DC0-895F5F99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4599432"/>
            <a:ext cx="777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BOB</a:t>
            </a:r>
            <a:endParaRPr sz="8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2B57D9F-C7FB-4338-B7CB-D9D57517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457200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101828"/>
                </a:solidFill>
                <a:latin typeface="Arial"/>
                <a:ea typeface="Arial"/>
                <a:cs typeface="Arial"/>
              </a:rPr>
              <a:t>Bob tool response still unverified</a:t>
            </a:r>
            <a:endParaRPr sz="12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3CC2B59-0A26-4541-8C4D-9BFB91BA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4965192"/>
            <a:ext cx="274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v</a:t>
            </a:r>
            <a:endParaRPr sz="10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6203B40C-41FE-42A8-9902-FB4E626A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148072"/>
            <a:ext cx="10149840" cy="493776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2700">
            <a:solidFill>
              <a:srgbClr val="FFF7E8"/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5A653114-9646-47AD-AC79-6A5B5963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5239512"/>
            <a:ext cx="96012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2700">
            <a:solidFill>
              <a:srgbClr val="FFF7E8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5E1748DA-549F-40D7-A43D-C461EEC3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5257800"/>
            <a:ext cx="777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B54708"/>
                </a:solidFill>
                <a:latin typeface="Arial"/>
                <a:ea typeface="Arial"/>
                <a:cs typeface="Arial"/>
              </a:rPr>
              <a:t>HUMAN</a:t>
            </a:r>
            <a:endParaRPr sz="8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64A7A6A-FCC1-4AC2-9092-622AB0F6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5230368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101828"/>
                </a:solidFill>
                <a:latin typeface="Arial"/>
                <a:ea typeface="Arial"/>
                <a:cs typeface="Arial"/>
              </a:rPr>
              <a:t>Approves consequential action</a:t>
            </a:r>
            <a:endParaRPr sz="12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7FAF8AF-D8A1-4E17-9C2A-0BDAE836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925312"/>
            <a:ext cx="100584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Key technical rule: tool descriptions are business contracts - narrow names, stable inputs, structured outputs, explicit non-goals.</a:t>
            </a:r>
            <a:endParaRPr sz="1100"/>
          </a:p>
        </p:txBody>
      </p:sp>
      <p:sp>
        <p:nvSpPr>
          <p:cNvPr id="34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724B24F-DC29-4E72-81CE-EADF7D1DB08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86032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225314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0924A7C-773D-4B5B-8C8E-05327FDE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4747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 spc="150">
                <a:solidFill>
                  <a:srgbClr val="155EEF"/>
                </a:solidFill>
                <a:latin typeface="Arial"/>
                <a:ea typeface="Arial"/>
                <a:cs typeface="Arial"/>
              </a:rPr>
              <a:t>09 - RESPONSIBLE AI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8F90854-D38C-4512-AF15-1C632703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85800"/>
            <a:ext cx="109728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system assists with evidence. It does not manufacture proof.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10082FA-D73C-4254-8C49-6738F4F4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20240"/>
            <a:ext cx="3337560" cy="3611880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EAF2FF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563DE22-B7D6-4DB7-9E77-A07DCD86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77724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EAF2FF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6C86233-21CD-4A1F-9FB6-49FBF8B1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67128"/>
            <a:ext cx="594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AGENT</a:t>
            </a:r>
            <a:endParaRPr sz="8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A945B61-5F36-42F5-9418-79DC8182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807208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25DB23A-3405-493D-83CE-2FD926A4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697480"/>
            <a:ext cx="257860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344054"/>
                </a:solidFill>
                <a:latin typeface="Arial"/>
                <a:ea typeface="Arial"/>
                <a:cs typeface="Arial"/>
              </a:rPr>
              <a:t>Granite calls review tool</a:t>
            </a:r>
            <a:endParaRPr sz="10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DADA289-93BE-4B02-A47C-24B9E550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45044FE-19C0-4B56-8EE5-567B4FC3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3136392"/>
            <a:ext cx="257860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344054"/>
                </a:solidFill>
                <a:latin typeface="Arial"/>
                <a:ea typeface="Arial"/>
                <a:cs typeface="Arial"/>
              </a:rPr>
              <a:t>Draft can be inaccurate</a:t>
            </a:r>
            <a:endParaRPr sz="10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3DD3BAD-0247-4622-8261-13BA0BE2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85032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3E6C1BD-CDA9-4082-899F-977BB46F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3575304"/>
            <a:ext cx="257860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344054"/>
                </a:solidFill>
                <a:latin typeface="Arial"/>
                <a:ea typeface="Arial"/>
                <a:cs typeface="Arial"/>
              </a:rPr>
              <a:t>Rules replace model draft</a:t>
            </a:r>
            <a:endParaRPr sz="10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CEE3DF1-E077-4D82-B25B-7BC0E295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2394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739EEAB-A3BF-47FB-9838-9D43A219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4014216"/>
            <a:ext cx="257860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344054"/>
                </a:solidFill>
                <a:latin typeface="Arial"/>
                <a:ea typeface="Arial"/>
                <a:cs typeface="Arial"/>
              </a:rPr>
              <a:t>Photo interpretation not built</a:t>
            </a:r>
            <a:endParaRPr sz="10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83CAEFB-1425-4CF2-B062-2451B18C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62856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EA636CE-F7DB-4480-9956-15010409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4453128"/>
            <a:ext cx="257860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344054"/>
                </a:solidFill>
                <a:latin typeface="Arial"/>
                <a:ea typeface="Arial"/>
                <a:cs typeface="Arial"/>
              </a:rPr>
              <a:t>Document analysis planned</a:t>
            </a:r>
            <a:endParaRPr sz="10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FA315C3-8C5E-4916-87D7-3DA22D2A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001768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87F8133-6C31-4EFE-B0C9-59397597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4892040"/>
            <a:ext cx="257860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344054"/>
                </a:solidFill>
                <a:latin typeface="Arial"/>
                <a:ea typeface="Arial"/>
                <a:cs typeface="Arial"/>
              </a:rPr>
              <a:t>No autonomous billing</a:t>
            </a:r>
            <a:endParaRPr sz="10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90AF2997-7ED1-45A1-B91E-E1EEF620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920240"/>
            <a:ext cx="3337560" cy="3611880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2700">
            <a:solidFill>
              <a:srgbClr val="F2F4F7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02765251-1DB1-4B12-A743-7CC1255D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148840"/>
            <a:ext cx="77724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2700">
            <a:solidFill>
              <a:srgbClr val="F2F4F7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2193944-B8DE-4341-84DA-E076F135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167128"/>
            <a:ext cx="594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RULES</a:t>
            </a:r>
            <a:endParaRPr sz="8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BB1E844-DEF3-4451-BA4E-5AE6D58D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07208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59B344E-E088-432B-A25A-45E77CA1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2697480"/>
            <a:ext cx="257860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344054"/>
                </a:solidFill>
                <a:latin typeface="Arial"/>
                <a:ea typeface="Arial"/>
                <a:cs typeface="Arial"/>
              </a:rPr>
              <a:t>Critical blocker policy</a:t>
            </a:r>
            <a:endParaRPr sz="10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D8E1DEA-CA73-43E9-B6B6-1BE93360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461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B530561-3D42-4348-8BD1-5D515BE1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3136392"/>
            <a:ext cx="257860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344054"/>
                </a:solidFill>
                <a:latin typeface="Arial"/>
                <a:ea typeface="Arial"/>
                <a:cs typeface="Arial"/>
              </a:rPr>
              <a:t>Valid state transitions</a:t>
            </a:r>
            <a:endParaRPr sz="10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248A4B88-BFA1-45F1-AAD9-AFC3B295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85032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F90A51B-67A1-4723-8182-5240AADD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3575304"/>
            <a:ext cx="257860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344054"/>
                </a:solidFill>
                <a:latin typeface="Arial"/>
                <a:ea typeface="Arial"/>
                <a:cs typeface="Arial"/>
              </a:rPr>
              <a:t>Approval requirements</a:t>
            </a:r>
            <a:endParaRPr sz="10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8E65B64D-BD08-46E0-96D6-0FF05A46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2394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12EE7A4C-7CB4-4ECB-99F4-FAD7EE95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4014216"/>
            <a:ext cx="257860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344054"/>
                </a:solidFill>
                <a:latin typeface="Arial"/>
                <a:ea typeface="Arial"/>
                <a:cs typeface="Arial"/>
              </a:rPr>
              <a:t>Critical requirement flags</a:t>
            </a:r>
            <a:endParaRPr sz="10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7B87A3BD-CBA3-4805-B96D-66B320C2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62856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1189EFB4-3F0D-4ABD-BBA6-8253696C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4453128"/>
            <a:ext cx="257860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344054"/>
                </a:solidFill>
                <a:latin typeface="Arial"/>
                <a:ea typeface="Arial"/>
                <a:cs typeface="Arial"/>
              </a:rPr>
              <a:t>Presence / conflict checks</a:t>
            </a:r>
            <a:endParaRPr sz="100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89089652-3855-456D-A837-2B1733A3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20240"/>
            <a:ext cx="3337560" cy="3611880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12700">
            <a:solidFill>
              <a:srgbClr val="FFFAEB"/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ECC21680-432E-4AD5-97C5-B983AE2D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48840"/>
            <a:ext cx="77724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12700">
            <a:solidFill>
              <a:srgbClr val="FFFAEB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EF90640E-4489-4251-A458-05BFB6E4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167128"/>
            <a:ext cx="594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B54708"/>
                </a:solidFill>
                <a:latin typeface="Arial"/>
                <a:ea typeface="Arial"/>
                <a:cs typeface="Arial"/>
              </a:rPr>
              <a:t>HUMAN</a:t>
            </a:r>
            <a:endParaRPr sz="80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AC7DDA8D-DFAA-4CB5-810B-C6B7DFA5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807208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F7D0A205-46D8-440D-AFD6-E3B16E4C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2697480"/>
            <a:ext cx="257860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344054"/>
                </a:solidFill>
                <a:latin typeface="Arial"/>
                <a:ea typeface="Arial"/>
                <a:cs typeface="Arial"/>
              </a:rPr>
              <a:t>Name the demo approver</a:t>
            </a:r>
            <a:endParaRPr sz="100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024CDAE5-362A-46C3-9E87-5888BFAE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2461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18B5AB3B-0DEF-4A24-9C31-E7698D7E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3136392"/>
            <a:ext cx="257860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344054"/>
                </a:solidFill>
                <a:latin typeface="Arial"/>
                <a:ea typeface="Arial"/>
                <a:cs typeface="Arial"/>
              </a:rPr>
              <a:t>Review critical evidence</a:t>
            </a:r>
            <a:endParaRPr sz="100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72F8A0CB-981D-47BA-835C-35F400D2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685032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033754DF-6F9F-4CD1-843A-2E5E819C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3575304"/>
            <a:ext cx="257860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344054"/>
                </a:solidFill>
                <a:latin typeface="Arial"/>
                <a:ea typeface="Arial"/>
                <a:cs typeface="Arial"/>
              </a:rPr>
              <a:t>Resolve conflicting evidence</a:t>
            </a:r>
            <a:endParaRPr sz="1000"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24F96C6E-37FB-46C7-8646-69AFF821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12394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D8662946-1DB7-4DBE-B4C0-E6B8A31F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4014216"/>
            <a:ext cx="257860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344054"/>
                </a:solidFill>
                <a:latin typeface="Arial"/>
                <a:ea typeface="Arial"/>
                <a:cs typeface="Arial"/>
              </a:rPr>
              <a:t>Approve demo report</a:t>
            </a:r>
            <a:endParaRPr sz="1000"/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916A13B6-D138-4DD0-BABB-6B1AEA45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562856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F689E87D-80E6-4B88-BDD5-CAA1B960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4453128"/>
            <a:ext cx="257860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344054"/>
                </a:solidFill>
                <a:latin typeface="Arial"/>
                <a:ea typeface="Arial"/>
                <a:cs typeface="Arial"/>
              </a:rPr>
              <a:t>Authorize real billing outside MVP</a:t>
            </a:r>
            <a:endParaRPr sz="1000"/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4E59397A-0688-4CD9-93FE-E59B8D82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742432"/>
            <a:ext cx="10744200" cy="41148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5F4"/>
          </a:solidFill>
          <a:ln xmlns:a="http://schemas.openxmlformats.org/drawingml/2006/main" w="12700">
            <a:solidFill>
              <a:srgbClr val="FECDCA"/>
            </a:solidFill>
            <a:prstDash val="solid"/>
          </a:ln>
        </p:spPr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BF052152-9C21-4A8A-92C5-93208E6C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833872"/>
            <a:ext cx="102412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7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Never: invent evidence, authenticate signatures, issue invoices, move money, or bypass unresolved critical requirements.</a:t>
            </a:r>
            <a:endParaRPr sz="970"/>
          </a:p>
        </p:txBody>
      </p:sp>
      <p:sp>
        <p:nvSpPr>
          <p:cNvPr id="47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FA9D9B8-4C9F-46D0-9981-80E172BA1BB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86032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24474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30E1B19-95D2-4D13-85C8-DF676D9F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4747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 spc="150">
                <a:solidFill>
                  <a:srgbClr val="155EEF"/>
                </a:solidFill>
                <a:latin typeface="Arial"/>
                <a:ea typeface="Arial"/>
                <a:cs typeface="Arial"/>
              </a:rPr>
              <a:t>10 - MARKET POSITIONING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A3A3E6E-3499-4E17-9A4F-64BE2D60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85800"/>
            <a:ext cx="109728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Evidence review between field completion and billing.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5C83015-D4EE-4D37-963E-0AFABB59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088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Existing stack</a:t>
            </a:r>
            <a:endParaRPr sz="11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4441850-EA35-44E2-9E27-0D9EC755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7712"/>
            <a:ext cx="2514600" cy="475488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BF54508-F4F8-43DE-B626-2D2F940E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377440"/>
            <a:ext cx="2011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344054"/>
                </a:solidFill>
                <a:latin typeface="Arial"/>
                <a:ea typeface="Arial"/>
                <a:cs typeface="Arial"/>
              </a:rPr>
              <a:t>WhatsApp / Email</a:t>
            </a:r>
            <a:endParaRPr sz="11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7CFDF1C-138E-47E7-8675-BAE86585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0"/>
            <a:ext cx="2514600" cy="475488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B6600D0-3BE0-4B99-A89C-DEFFDF9E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035808"/>
            <a:ext cx="2011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344054"/>
                </a:solidFill>
                <a:latin typeface="Arial"/>
                <a:ea typeface="Arial"/>
                <a:cs typeface="Arial"/>
              </a:rPr>
              <a:t>Drive / Files</a:t>
            </a:r>
            <a:endParaRPr sz="11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9C26119-4B36-4B62-AEF4-6ADD6FC5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4448"/>
            <a:ext cx="2514600" cy="475488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05AD6C7-1A0A-46E5-9073-264926CC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694176"/>
            <a:ext cx="2011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344054"/>
                </a:solidFill>
                <a:latin typeface="Arial"/>
                <a:ea typeface="Arial"/>
                <a:cs typeface="Arial"/>
              </a:rPr>
              <a:t>FSM / Work Orders</a:t>
            </a:r>
            <a:endParaRPr sz="11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F6FC243-AB9F-40C6-82BC-17EF09BA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2816"/>
            <a:ext cx="2514600" cy="475488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4E64F6C-268A-4E03-BEEC-0D0522C5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352544"/>
            <a:ext cx="2011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344054"/>
                </a:solidFill>
                <a:latin typeface="Arial"/>
                <a:ea typeface="Arial"/>
                <a:cs typeface="Arial"/>
              </a:rPr>
              <a:t>Accounting / ERP</a:t>
            </a:r>
            <a:endParaRPr sz="11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AC1F782-33ED-47C6-83A2-26053E2C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3273552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&gt;</a:t>
            </a:r>
            <a:endParaRPr sz="26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0CBEA26-96D9-4BC9-B16B-D869D930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2121408"/>
            <a:ext cx="3657600" cy="3182112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12700">
            <a:solidFill>
              <a:srgbClr val="101828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D78BB8E-CA43-4E3A-B098-39DF9CA0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2487168"/>
            <a:ext cx="2926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PROOF2PAY</a:t>
            </a:r>
            <a:endParaRPr sz="22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A3696B7-167C-44E6-8247-84838278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063240"/>
            <a:ext cx="29260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84ADFF"/>
                </a:solidFill>
                <a:latin typeface="Arial"/>
                <a:ea typeface="Arial"/>
                <a:cs typeface="Arial"/>
              </a:rPr>
              <a:t>Evidence-to-Billing</a:t>
            </a:r>
            <a:endParaRPr sz="1700"/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84ADFF"/>
                </a:solidFill>
                <a:latin typeface="Arial"/>
                <a:ea typeface="Arial"/>
                <a:cs typeface="Arial"/>
              </a:rPr>
              <a:t>Intelligence Layer</a:t>
            </a:r>
            <a:endParaRPr sz="17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3A721D2-CDA5-41CE-817B-BD3D134E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4114800"/>
            <a:ext cx="29260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D0D5DD"/>
                </a:solidFill>
                <a:latin typeface="Arial"/>
                <a:ea typeface="Arial"/>
                <a:cs typeface="Arial"/>
              </a:rPr>
              <a:t>Requirement -&gt; Evidence</a:t>
            </a:r>
            <a:endParaRPr sz="1100"/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D0D5DD"/>
                </a:solidFill>
                <a:latin typeface="Arial"/>
                <a:ea typeface="Arial"/>
                <a:cs typeface="Arial"/>
              </a:rPr>
              <a:t>Blocker -&gt; Action</a:t>
            </a:r>
            <a:endParaRPr sz="1100"/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D0D5DD"/>
                </a:solidFill>
                <a:latin typeface="Arial"/>
                <a:ea typeface="Arial"/>
                <a:cs typeface="Arial"/>
              </a:rPr>
              <a:t>Human -&gt; Approval</a:t>
            </a:r>
            <a:endParaRPr sz="1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8546205-1897-4D19-8E90-C3DA6B95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3273552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&gt;</a:t>
            </a:r>
            <a:endParaRPr sz="26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FC19008-C4CA-47CE-A6AF-95DC343D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1847088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Outcome</a:t>
            </a:r>
            <a:endParaRPr sz="11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42B313A-182C-4D02-9663-50DC3B63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2267712"/>
            <a:ext cx="333756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2700">
            <a:solidFill>
              <a:srgbClr val="A6F4C5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4312644-59AE-443F-ABD2-E8ED2ACA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2532888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27A48"/>
                </a:solidFill>
                <a:latin typeface="Arial"/>
                <a:ea typeface="Arial"/>
                <a:cs typeface="Arial"/>
              </a:rPr>
              <a:t>Synthetic completion pack</a:t>
            </a:r>
            <a:endParaRPr sz="15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3363DF06-5748-4E23-ABE1-74C52EF8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3429000"/>
            <a:ext cx="333756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B2CCFF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EB5D05D-279C-4BB6-AB3C-1A7038E1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3694176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Demo readiness status</a:t>
            </a:r>
            <a:endParaRPr sz="15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E31CF041-D299-45B6-B5B3-C5DDEC2A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4590288"/>
            <a:ext cx="333756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AB3E0C0-C23F-40B3-8644-52ADD120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4855464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344054"/>
                </a:solidFill>
                <a:latin typeface="Arial"/>
                <a:ea typeface="Arial"/>
                <a:cs typeface="Arial"/>
              </a:rPr>
              <a:t>Billing integration planned</a:t>
            </a:r>
            <a:endParaRPr sz="15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9D70ECA-061B-472C-A005-95A6E4AF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44768"/>
            <a:ext cx="10881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680">
                <a:solidFill>
                  <a:srgbClr val="667085"/>
                </a:solidFill>
                <a:latin typeface="Arial"/>
                <a:ea typeface="Arial"/>
                <a:cs typeface="Arial"/>
              </a:rPr>
              <a:t>Competitor category examples: ServiceTitan and ServiceM8 official product/help documentation.</a:t>
            </a:r>
            <a:endParaRPr sz="680"/>
          </a:p>
        </p:txBody>
      </p:sp>
      <p:sp>
        <p:nvSpPr>
          <p:cNvPr id="27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202A73D-68AB-4E3A-9898-68333CB7A68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86032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838524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457E044-6839-48B3-84B3-3E9AF4AA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4747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 spc="150">
                <a:solidFill>
                  <a:srgbClr val="155EEF"/>
                </a:solidFill>
                <a:latin typeface="Arial"/>
                <a:ea typeface="Arial"/>
                <a:cs typeface="Arial"/>
              </a:rPr>
              <a:t>11 - BUSINESS &amp; ROADMAP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41CA6AB-6B05-4CC2-90CD-3EBBBC7A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85800"/>
            <a:ext cx="109728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Start narrow. Prove the workflow. Expand through templates and integrations.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DBE8773-BCDC-4BFE-8A48-8CC0245E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01952"/>
            <a:ext cx="3657600" cy="3547872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1522123-9C4C-469D-BD07-2757643C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94560"/>
            <a:ext cx="2971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Business model hypothesis</a:t>
            </a:r>
            <a:endParaRPr sz="16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BFB8E18-0643-445B-8B8B-3A97BECE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92608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1678A98-A7AF-4B55-B3ED-060C857C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816352"/>
            <a:ext cx="267004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344054"/>
                </a:solidFill>
                <a:latin typeface="Arial"/>
                <a:ea typeface="Arial"/>
                <a:cs typeface="Arial"/>
              </a:rPr>
              <a:t>B2B SaaS</a:t>
            </a:r>
            <a:endParaRPr sz="11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4040692-4AE9-4725-881C-A4452F32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401568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661A0C4-F9C7-4987-B0EA-DE996E73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3291840"/>
            <a:ext cx="267004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344054"/>
                </a:solidFill>
                <a:latin typeface="Arial"/>
                <a:ea typeface="Arial"/>
                <a:cs typeface="Arial"/>
              </a:rPr>
              <a:t>Tier by active field team / job volume</a:t>
            </a:r>
            <a:endParaRPr sz="11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7DFEAA4-FDE0-473B-B9EF-61624736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77056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41F53ED-1DE2-490E-B9A2-8E360E7A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3767328"/>
            <a:ext cx="267004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344054"/>
                </a:solidFill>
                <a:latin typeface="Arial"/>
                <a:ea typeface="Arial"/>
                <a:cs typeface="Arial"/>
              </a:rPr>
              <a:t>Pro: integrations + custom templates + analytics</a:t>
            </a:r>
            <a:endParaRPr sz="11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6B7260C-977A-4E71-A1B0-90C4F69F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48056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0299603-083F-479B-A34F-5FCCFC1B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4370832"/>
            <a:ext cx="267004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344054"/>
                </a:solidFill>
                <a:latin typeface="Arial"/>
                <a:ea typeface="Arial"/>
                <a:cs typeface="Arial"/>
              </a:rPr>
              <a:t>Enterprise/API: governance + private integration</a:t>
            </a:r>
            <a:endParaRPr sz="11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F920E54-D798-43BD-8BAE-1F70B4A8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937760"/>
            <a:ext cx="214884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12700">
            <a:solidFill>
              <a:srgbClr val="FFFAEB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CFE89CB-887F-4E8C-A255-8CDE1899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956048"/>
            <a:ext cx="1965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B54708"/>
                </a:solidFill>
                <a:latin typeface="Arial"/>
                <a:ea typeface="Arial"/>
                <a:cs typeface="Arial"/>
              </a:rPr>
              <a:t>PRICING NOT YET VALIDATED</a:t>
            </a:r>
            <a:endParaRPr sz="8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F7DF020-367B-4CCB-A39C-EF5F4615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1901952"/>
            <a:ext cx="7068312" cy="3547872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519D2B6-4659-4C78-ABCA-1926D305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2194560"/>
            <a:ext cx="2743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Expansion path</a:t>
            </a:r>
            <a:endParaRPr sz="16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240FAF0-86A5-42EF-A2CD-6249C947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2816352"/>
            <a:ext cx="658368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EAF2FF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1C588D6-0D5D-4046-93A2-257154FF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2834640"/>
            <a:ext cx="47548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NOW</a:t>
            </a:r>
            <a:endParaRPr sz="8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8AFEDAC-DADC-4705-92E4-7F2DB78F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2798064"/>
            <a:ext cx="1097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Hackathon</a:t>
            </a:r>
            <a:endParaRPr sz="12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D9ADDFB-9A95-4261-8A2E-3C718A70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770632"/>
            <a:ext cx="4160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>
                <a:solidFill>
                  <a:srgbClr val="344054"/>
                </a:solidFill>
                <a:latin typeface="Arial"/>
                <a:ea typeface="Arial"/>
                <a:cs typeface="Arial"/>
              </a:rPr>
              <a:t>3 public HVAC records + synthetic browser demo</a:t>
            </a:r>
            <a:endParaRPr sz="98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34D3D07-7AFA-4DF5-9847-A272FC7E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3621024"/>
            <a:ext cx="658368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2700">
            <a:solidFill>
              <a:srgbClr val="F2F4F7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85932AB-069E-4B9B-940F-7B0C82D3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3639312"/>
            <a:ext cx="47548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NEXT</a:t>
            </a:r>
            <a:endParaRPr sz="8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E561CCA-3BF6-40FF-958D-AD244BCA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3602736"/>
            <a:ext cx="1097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Pilot</a:t>
            </a:r>
            <a:endParaRPr sz="12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2FD0E83-E3AB-4E11-8774-BAF64E7B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575304"/>
            <a:ext cx="4160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>
                <a:solidFill>
                  <a:srgbClr val="344054"/>
                </a:solidFill>
                <a:latin typeface="Arial"/>
                <a:ea typeface="Arial"/>
                <a:cs typeface="Arial"/>
              </a:rPr>
              <a:t>Consented user data + integrations + evaluation set</a:t>
            </a:r>
            <a:endParaRPr sz="98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46A7A7A2-3FBB-43D5-AEA2-9CDE45EC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4425696"/>
            <a:ext cx="658368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2700">
            <a:solidFill>
              <a:srgbClr val="F2F4F7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EF5AA66-AF67-477B-B6B1-880200EF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4443984"/>
            <a:ext cx="47548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LATER</a:t>
            </a:r>
            <a:endParaRPr sz="8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551AF21-8E50-4949-AD9F-46D8D065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4407408"/>
            <a:ext cx="1097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Scale</a:t>
            </a:r>
            <a:endParaRPr sz="12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B7A2E27F-77FF-4E94-9B1E-EB684F3D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379976"/>
            <a:ext cx="4160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>
                <a:solidFill>
                  <a:srgbClr val="344054"/>
                </a:solidFill>
                <a:latin typeface="Arial"/>
                <a:ea typeface="Arial"/>
                <a:cs typeface="Arial"/>
              </a:rPr>
              <a:t>Vertical templates + multi-tenant governance + connectors</a:t>
            </a:r>
            <a:endParaRPr sz="98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0C690C38-3304-404E-89B7-C59CF507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5120640"/>
            <a:ext cx="6126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703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Source: NYC Parks AMPS work orders 2791739, 2792582, 2792861. Public records do not include billing proof.</a:t>
            </a:r>
            <a:endParaRPr sz="950"/>
          </a:p>
        </p:txBody>
      </p:sp>
      <p:sp>
        <p:nvSpPr>
          <p:cNvPr id="31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4C9A230-98DD-4BB9-BD28-BDDCE364E64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86032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06919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52B5ABC-0331-4859-A596-A1F3667C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749808"/>
            <a:ext cx="1298448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D2939"/>
          </a:solidFill>
          <a:ln xmlns:a="http://schemas.openxmlformats.org/drawingml/2006/main" w="12700">
            <a:solidFill>
              <a:srgbClr val="1D2939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AA19100-A336-4227-8C41-5CDFE448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768096"/>
            <a:ext cx="111556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84ADFF"/>
                </a:solidFill>
                <a:latin typeface="Arial"/>
                <a:ea typeface="Arial"/>
                <a:cs typeface="Arial"/>
              </a:rPr>
              <a:t>PROOF2PAY AI</a:t>
            </a:r>
            <a:endParaRPr sz="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277BA4B-503F-4C5F-8BA7-20558EA0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572768"/>
            <a:ext cx="1060704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Finished != Billable.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FFE834F-EDDF-4B62-A6A3-DDBD0841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532888"/>
            <a:ext cx="987552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00">
                <a:solidFill>
                  <a:srgbClr val="D0D5DD"/>
                </a:solidFill>
                <a:latin typeface="Arial"/>
                <a:ea typeface="Arial"/>
                <a:cs typeface="Arial"/>
              </a:rPr>
              <a:t>PROOF2PAY helps teams check whether completed work has enough evidence for a billing handoff.</a:t>
            </a:r>
            <a:endParaRPr sz="22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DBD7B52-4339-446A-AFA5-AB6DFA25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224528"/>
            <a:ext cx="10789920" cy="9144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D2939"/>
          </a:solidFill>
          <a:ln xmlns:a="http://schemas.openxmlformats.org/drawingml/2006/main" w="12700">
            <a:solidFill>
              <a:srgbClr val="344054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D0DB9CF-7488-419B-8A95-FF452CBC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507992"/>
            <a:ext cx="10195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84ADFF"/>
                </a:solidFill>
                <a:latin typeface="Arial"/>
                <a:ea typeface="Arial"/>
                <a:cs typeface="Arial"/>
              </a:rPr>
              <a:t>Finish the job.   Prove the job.   Get paid.</a:t>
            </a:r>
            <a:endParaRPr sz="20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9DA1167-1F7E-418E-8889-30890177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96128"/>
            <a:ext cx="10424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Langflow MCP + IBM Granite | Bob connected, chat call unverified</a:t>
            </a:r>
            <a:endParaRPr sz="11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BC6D0DE-2CAC-4106-8A51-40B2EA59EF9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86032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207507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2026-10-01T23:20:19.4490000Z</dcterms:created>
  <dcterms:modified xsi:type="dcterms:W3CDTF">2026-10-01T23:20:19.4490000Z</dcterms:modified>
</coreProperties>
</file>